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sldIdLst>
    <p:sldId id="256" r:id="rId5"/>
    <p:sldId id="257" r:id="rId6"/>
    <p:sldId id="258" r:id="rId7"/>
    <p:sldId id="260" r:id="rId8"/>
    <p:sldId id="265" r:id="rId9"/>
    <p:sldId id="266" r:id="rId10"/>
    <p:sldId id="267" r:id="rId11"/>
    <p:sldId id="268" r:id="rId12"/>
    <p:sldId id="269" r:id="rId13"/>
    <p:sldId id="270" r:id="rId14"/>
    <p:sldId id="272" r:id="rId15"/>
    <p:sldId id="276" r:id="rId16"/>
    <p:sldId id="271"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2F0FC8-5D0F-4FD4-ABE2-C4D7A07D518C}" v="1" dt="2026-05-21T03:35:02.8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ktaviani, Astrid" userId="17658465-a97f-4e97-9651-4d4e045202ae" providerId="ADAL" clId="{85B0C1DE-CBF7-4929-84F7-82560E23B29A}"/>
    <pc:docChg chg="undo custSel addSld delSld modSld">
      <pc:chgData name="Oktaviani, Astrid" userId="17658465-a97f-4e97-9651-4d4e045202ae" providerId="ADAL" clId="{85B0C1DE-CBF7-4929-84F7-82560E23B29A}" dt="2026-05-21T03:35:02.815" v="350"/>
      <pc:docMkLst>
        <pc:docMk/>
      </pc:docMkLst>
      <pc:sldChg chg="addSp delSp modSp mod">
        <pc:chgData name="Oktaviani, Astrid" userId="17658465-a97f-4e97-9651-4d4e045202ae" providerId="ADAL" clId="{85B0C1DE-CBF7-4929-84F7-82560E23B29A}" dt="2026-05-21T03:35:02.815" v="350"/>
        <pc:sldMkLst>
          <pc:docMk/>
          <pc:sldMk cId="4104398364" sldId="271"/>
        </pc:sldMkLst>
        <pc:spChg chg="add mod">
          <ac:chgData name="Oktaviani, Astrid" userId="17658465-a97f-4e97-9651-4d4e045202ae" providerId="ADAL" clId="{85B0C1DE-CBF7-4929-84F7-82560E23B29A}" dt="2026-05-21T03:35:02.815" v="350"/>
          <ac:spMkLst>
            <pc:docMk/>
            <pc:sldMk cId="4104398364" sldId="271"/>
            <ac:spMk id="2" creationId="{30E2EA3A-F5D0-E3A7-C55A-F81AB43BDB4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45B4D4-9C17-4B08-8D98-169A3C31969F}" type="datetimeFigureOut">
              <a:rPr lang="en-US" smtClean="0"/>
              <a:t>21/05/2026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33969C-4F15-44CE-A673-249EA33B1492}" type="slidenum">
              <a:rPr lang="en-US" smtClean="0"/>
              <a:t>‹#›</a:t>
            </a:fld>
            <a:endParaRPr lang="en-US"/>
          </a:p>
        </p:txBody>
      </p:sp>
    </p:spTree>
    <p:extLst>
      <p:ext uri="{BB962C8B-B14F-4D97-AF65-F5344CB8AC3E}">
        <p14:creationId xmlns:p14="http://schemas.microsoft.com/office/powerpoint/2010/main" val="192753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33969C-4F15-44CE-A673-249EA33B1492}" type="slidenum">
              <a:rPr lang="en-US" smtClean="0"/>
              <a:t>7</a:t>
            </a:fld>
            <a:endParaRPr lang="en-US"/>
          </a:p>
        </p:txBody>
      </p:sp>
    </p:spTree>
    <p:extLst>
      <p:ext uri="{BB962C8B-B14F-4D97-AF65-F5344CB8AC3E}">
        <p14:creationId xmlns:p14="http://schemas.microsoft.com/office/powerpoint/2010/main" val="4163474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33969C-4F15-44CE-A673-249EA33B1492}" type="slidenum">
              <a:rPr lang="en-US" smtClean="0"/>
              <a:t>10</a:t>
            </a:fld>
            <a:endParaRPr lang="en-US"/>
          </a:p>
        </p:txBody>
      </p:sp>
    </p:spTree>
    <p:extLst>
      <p:ext uri="{BB962C8B-B14F-4D97-AF65-F5344CB8AC3E}">
        <p14:creationId xmlns:p14="http://schemas.microsoft.com/office/powerpoint/2010/main" val="2827897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33969C-4F15-44CE-A673-249EA33B1492}" type="slidenum">
              <a:rPr lang="en-US" smtClean="0"/>
              <a:t>11</a:t>
            </a:fld>
            <a:endParaRPr lang="en-US"/>
          </a:p>
        </p:txBody>
      </p:sp>
    </p:spTree>
    <p:extLst>
      <p:ext uri="{BB962C8B-B14F-4D97-AF65-F5344CB8AC3E}">
        <p14:creationId xmlns:p14="http://schemas.microsoft.com/office/powerpoint/2010/main" val="18922215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33969C-4F15-44CE-A673-249EA33B1492}" type="slidenum">
              <a:rPr lang="en-US" smtClean="0"/>
              <a:t>13</a:t>
            </a:fld>
            <a:endParaRPr lang="en-US"/>
          </a:p>
        </p:txBody>
      </p:sp>
    </p:spTree>
    <p:extLst>
      <p:ext uri="{BB962C8B-B14F-4D97-AF65-F5344CB8AC3E}">
        <p14:creationId xmlns:p14="http://schemas.microsoft.com/office/powerpoint/2010/main" val="2010616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9ACD5-EE9B-7478-E0E6-01FB3B9695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BC1C5E-B7E0-1E6A-6012-A054150871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9A82902-CBD5-0FE7-384E-AA067D04C038}"/>
              </a:ext>
            </a:extLst>
          </p:cNvPr>
          <p:cNvSpPr>
            <a:spLocks noGrp="1"/>
          </p:cNvSpPr>
          <p:nvPr>
            <p:ph type="dt" sz="half" idx="10"/>
          </p:nvPr>
        </p:nvSpPr>
        <p:spPr/>
        <p:txBody>
          <a:bodyPr/>
          <a:lstStyle/>
          <a:p>
            <a:fld id="{BF404B3B-B881-44D1-B809-430BB0D0574E}" type="datetimeFigureOut">
              <a:rPr lang="en-US" smtClean="0"/>
              <a:t>21/05/2026</a:t>
            </a:fld>
            <a:endParaRPr lang="en-US"/>
          </a:p>
        </p:txBody>
      </p:sp>
      <p:sp>
        <p:nvSpPr>
          <p:cNvPr id="5" name="Footer Placeholder 4">
            <a:extLst>
              <a:ext uri="{FF2B5EF4-FFF2-40B4-BE49-F238E27FC236}">
                <a16:creationId xmlns:a16="http://schemas.microsoft.com/office/drawing/2014/main" id="{E9B6D035-6ACB-63DD-0C0D-9A566B44FA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2ED358-8FE4-1535-768C-7F9E0E382EF8}"/>
              </a:ext>
            </a:extLst>
          </p:cNvPr>
          <p:cNvSpPr>
            <a:spLocks noGrp="1"/>
          </p:cNvSpPr>
          <p:nvPr>
            <p:ph type="sldNum" sz="quarter" idx="12"/>
          </p:nvPr>
        </p:nvSpPr>
        <p:spPr/>
        <p:txBody>
          <a:bodyPr/>
          <a:lstStyle/>
          <a:p>
            <a:fld id="{25DEA72B-0AFF-45DD-A6EB-763826C11F89}" type="slidenum">
              <a:rPr lang="en-US" smtClean="0"/>
              <a:t>‹#›</a:t>
            </a:fld>
            <a:endParaRPr lang="en-US"/>
          </a:p>
        </p:txBody>
      </p:sp>
    </p:spTree>
    <p:extLst>
      <p:ext uri="{BB962C8B-B14F-4D97-AF65-F5344CB8AC3E}">
        <p14:creationId xmlns:p14="http://schemas.microsoft.com/office/powerpoint/2010/main" val="3354661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A51E8-5E42-1E15-D283-943689A2D4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F1D2EB-C3E8-B498-FC01-1459DCBC7F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19ABB2-4532-61A3-C3AB-1D0AC0DF69F6}"/>
              </a:ext>
            </a:extLst>
          </p:cNvPr>
          <p:cNvSpPr>
            <a:spLocks noGrp="1"/>
          </p:cNvSpPr>
          <p:nvPr>
            <p:ph type="dt" sz="half" idx="10"/>
          </p:nvPr>
        </p:nvSpPr>
        <p:spPr/>
        <p:txBody>
          <a:bodyPr/>
          <a:lstStyle/>
          <a:p>
            <a:fld id="{BF404B3B-B881-44D1-B809-430BB0D0574E}" type="datetimeFigureOut">
              <a:rPr lang="en-US" smtClean="0"/>
              <a:t>21/05/2026</a:t>
            </a:fld>
            <a:endParaRPr lang="en-US"/>
          </a:p>
        </p:txBody>
      </p:sp>
      <p:sp>
        <p:nvSpPr>
          <p:cNvPr id="5" name="Footer Placeholder 4">
            <a:extLst>
              <a:ext uri="{FF2B5EF4-FFF2-40B4-BE49-F238E27FC236}">
                <a16:creationId xmlns:a16="http://schemas.microsoft.com/office/drawing/2014/main" id="{34C9AEE9-5FA3-0E1B-407B-50F478350B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01D355-D805-7E58-54DB-3E8C89074C1B}"/>
              </a:ext>
            </a:extLst>
          </p:cNvPr>
          <p:cNvSpPr>
            <a:spLocks noGrp="1"/>
          </p:cNvSpPr>
          <p:nvPr>
            <p:ph type="sldNum" sz="quarter" idx="12"/>
          </p:nvPr>
        </p:nvSpPr>
        <p:spPr/>
        <p:txBody>
          <a:bodyPr/>
          <a:lstStyle/>
          <a:p>
            <a:fld id="{25DEA72B-0AFF-45DD-A6EB-763826C11F89}" type="slidenum">
              <a:rPr lang="en-US" smtClean="0"/>
              <a:t>‹#›</a:t>
            </a:fld>
            <a:endParaRPr lang="en-US"/>
          </a:p>
        </p:txBody>
      </p:sp>
    </p:spTree>
    <p:extLst>
      <p:ext uri="{BB962C8B-B14F-4D97-AF65-F5344CB8AC3E}">
        <p14:creationId xmlns:p14="http://schemas.microsoft.com/office/powerpoint/2010/main" val="2612122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41722-6D52-0BB1-9CE5-4AD54B6F5B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716BA4-F03F-E4B7-05F3-0A3B1129158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2584DB-7DD9-C8C1-E56B-24259C039AF9}"/>
              </a:ext>
            </a:extLst>
          </p:cNvPr>
          <p:cNvSpPr>
            <a:spLocks noGrp="1"/>
          </p:cNvSpPr>
          <p:nvPr>
            <p:ph type="dt" sz="half" idx="10"/>
          </p:nvPr>
        </p:nvSpPr>
        <p:spPr/>
        <p:txBody>
          <a:bodyPr/>
          <a:lstStyle/>
          <a:p>
            <a:fld id="{BF404B3B-B881-44D1-B809-430BB0D0574E}" type="datetimeFigureOut">
              <a:rPr lang="en-US" smtClean="0"/>
              <a:t>21/05/2026</a:t>
            </a:fld>
            <a:endParaRPr lang="en-US"/>
          </a:p>
        </p:txBody>
      </p:sp>
      <p:sp>
        <p:nvSpPr>
          <p:cNvPr id="5" name="Footer Placeholder 4">
            <a:extLst>
              <a:ext uri="{FF2B5EF4-FFF2-40B4-BE49-F238E27FC236}">
                <a16:creationId xmlns:a16="http://schemas.microsoft.com/office/drawing/2014/main" id="{074B1557-8B9D-8B51-291E-A0589D4259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31086F-1176-2955-5980-67C45EDC209A}"/>
              </a:ext>
            </a:extLst>
          </p:cNvPr>
          <p:cNvSpPr>
            <a:spLocks noGrp="1"/>
          </p:cNvSpPr>
          <p:nvPr>
            <p:ph type="sldNum" sz="quarter" idx="12"/>
          </p:nvPr>
        </p:nvSpPr>
        <p:spPr/>
        <p:txBody>
          <a:bodyPr/>
          <a:lstStyle/>
          <a:p>
            <a:fld id="{25DEA72B-0AFF-45DD-A6EB-763826C11F89}" type="slidenum">
              <a:rPr lang="en-US" smtClean="0"/>
              <a:t>‹#›</a:t>
            </a:fld>
            <a:endParaRPr lang="en-US"/>
          </a:p>
        </p:txBody>
      </p:sp>
    </p:spTree>
    <p:extLst>
      <p:ext uri="{BB962C8B-B14F-4D97-AF65-F5344CB8AC3E}">
        <p14:creationId xmlns:p14="http://schemas.microsoft.com/office/powerpoint/2010/main" val="938350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64FA5-C981-740D-1079-8D45B1BC92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B85A49-4C83-217A-E72B-C14A2C08BC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7A6B935-15C5-1264-83FC-10A0178C11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B8331D-6469-A9EE-193F-619F76AF154B}"/>
              </a:ext>
            </a:extLst>
          </p:cNvPr>
          <p:cNvSpPr>
            <a:spLocks noGrp="1"/>
          </p:cNvSpPr>
          <p:nvPr>
            <p:ph type="dt" sz="half" idx="10"/>
          </p:nvPr>
        </p:nvSpPr>
        <p:spPr/>
        <p:txBody>
          <a:bodyPr/>
          <a:lstStyle/>
          <a:p>
            <a:fld id="{BF404B3B-B881-44D1-B809-430BB0D0574E}" type="datetimeFigureOut">
              <a:rPr lang="en-US" smtClean="0"/>
              <a:t>21/05/2026</a:t>
            </a:fld>
            <a:endParaRPr lang="en-US"/>
          </a:p>
        </p:txBody>
      </p:sp>
      <p:sp>
        <p:nvSpPr>
          <p:cNvPr id="6" name="Footer Placeholder 5">
            <a:extLst>
              <a:ext uri="{FF2B5EF4-FFF2-40B4-BE49-F238E27FC236}">
                <a16:creationId xmlns:a16="http://schemas.microsoft.com/office/drawing/2014/main" id="{43294883-4532-2C93-2865-0E7694EF6E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81E019-0E4B-0979-C1F4-F3D987444C66}"/>
              </a:ext>
            </a:extLst>
          </p:cNvPr>
          <p:cNvSpPr>
            <a:spLocks noGrp="1"/>
          </p:cNvSpPr>
          <p:nvPr>
            <p:ph type="sldNum" sz="quarter" idx="12"/>
          </p:nvPr>
        </p:nvSpPr>
        <p:spPr/>
        <p:txBody>
          <a:bodyPr/>
          <a:lstStyle/>
          <a:p>
            <a:fld id="{25DEA72B-0AFF-45DD-A6EB-763826C11F89}" type="slidenum">
              <a:rPr lang="en-US" smtClean="0"/>
              <a:t>‹#›</a:t>
            </a:fld>
            <a:endParaRPr lang="en-US"/>
          </a:p>
        </p:txBody>
      </p:sp>
    </p:spTree>
    <p:extLst>
      <p:ext uri="{BB962C8B-B14F-4D97-AF65-F5344CB8AC3E}">
        <p14:creationId xmlns:p14="http://schemas.microsoft.com/office/powerpoint/2010/main" val="369338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4B7AA-CFF3-57DD-6244-9AFDC3E6C36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F0085FE-B729-5AF5-F6F7-6F5738C41D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11CF1E-11F8-F27A-6DE2-AB11CEBADF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8D06E92-7F01-D569-D76E-BA4D6EB94A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03B6DE-5E8F-983D-6189-F50F4B58A1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55AE9A3-15C0-5126-5FB5-7004FE368D15}"/>
              </a:ext>
            </a:extLst>
          </p:cNvPr>
          <p:cNvSpPr>
            <a:spLocks noGrp="1"/>
          </p:cNvSpPr>
          <p:nvPr>
            <p:ph type="dt" sz="half" idx="10"/>
          </p:nvPr>
        </p:nvSpPr>
        <p:spPr/>
        <p:txBody>
          <a:bodyPr/>
          <a:lstStyle/>
          <a:p>
            <a:fld id="{BF404B3B-B881-44D1-B809-430BB0D0574E}" type="datetimeFigureOut">
              <a:rPr lang="en-US" smtClean="0"/>
              <a:t>21/05/2026</a:t>
            </a:fld>
            <a:endParaRPr lang="en-US"/>
          </a:p>
        </p:txBody>
      </p:sp>
      <p:sp>
        <p:nvSpPr>
          <p:cNvPr id="8" name="Footer Placeholder 7">
            <a:extLst>
              <a:ext uri="{FF2B5EF4-FFF2-40B4-BE49-F238E27FC236}">
                <a16:creationId xmlns:a16="http://schemas.microsoft.com/office/drawing/2014/main" id="{3BDEB2EA-E589-0BAC-6076-F7AAB02A24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1B48032-AAD7-F541-F30F-20410BC27151}"/>
              </a:ext>
            </a:extLst>
          </p:cNvPr>
          <p:cNvSpPr>
            <a:spLocks noGrp="1"/>
          </p:cNvSpPr>
          <p:nvPr>
            <p:ph type="sldNum" sz="quarter" idx="12"/>
          </p:nvPr>
        </p:nvSpPr>
        <p:spPr/>
        <p:txBody>
          <a:bodyPr/>
          <a:lstStyle/>
          <a:p>
            <a:fld id="{25DEA72B-0AFF-45DD-A6EB-763826C11F89}" type="slidenum">
              <a:rPr lang="en-US" smtClean="0"/>
              <a:t>‹#›</a:t>
            </a:fld>
            <a:endParaRPr lang="en-US"/>
          </a:p>
        </p:txBody>
      </p:sp>
    </p:spTree>
    <p:extLst>
      <p:ext uri="{BB962C8B-B14F-4D97-AF65-F5344CB8AC3E}">
        <p14:creationId xmlns:p14="http://schemas.microsoft.com/office/powerpoint/2010/main" val="3814785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1B1FF-00A5-1DE2-A478-5CCBF8A7A4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C11046-3417-87A1-6537-7CFEF830AC76}"/>
              </a:ext>
            </a:extLst>
          </p:cNvPr>
          <p:cNvSpPr>
            <a:spLocks noGrp="1"/>
          </p:cNvSpPr>
          <p:nvPr>
            <p:ph type="dt" sz="half" idx="10"/>
          </p:nvPr>
        </p:nvSpPr>
        <p:spPr/>
        <p:txBody>
          <a:bodyPr/>
          <a:lstStyle/>
          <a:p>
            <a:fld id="{BF404B3B-B881-44D1-B809-430BB0D0574E}" type="datetimeFigureOut">
              <a:rPr lang="en-US" smtClean="0"/>
              <a:t>21/05/2026</a:t>
            </a:fld>
            <a:endParaRPr lang="en-US"/>
          </a:p>
        </p:txBody>
      </p:sp>
      <p:sp>
        <p:nvSpPr>
          <p:cNvPr id="4" name="Footer Placeholder 3">
            <a:extLst>
              <a:ext uri="{FF2B5EF4-FFF2-40B4-BE49-F238E27FC236}">
                <a16:creationId xmlns:a16="http://schemas.microsoft.com/office/drawing/2014/main" id="{6CD9BB16-F791-BF0A-DAE3-D6F8F087B37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296059-DA33-1D7C-88B7-60ED8569D30B}"/>
              </a:ext>
            </a:extLst>
          </p:cNvPr>
          <p:cNvSpPr>
            <a:spLocks noGrp="1"/>
          </p:cNvSpPr>
          <p:nvPr>
            <p:ph type="sldNum" sz="quarter" idx="12"/>
          </p:nvPr>
        </p:nvSpPr>
        <p:spPr/>
        <p:txBody>
          <a:bodyPr/>
          <a:lstStyle/>
          <a:p>
            <a:fld id="{25DEA72B-0AFF-45DD-A6EB-763826C11F89}" type="slidenum">
              <a:rPr lang="en-US" smtClean="0"/>
              <a:t>‹#›</a:t>
            </a:fld>
            <a:endParaRPr lang="en-US"/>
          </a:p>
        </p:txBody>
      </p:sp>
    </p:spTree>
    <p:extLst>
      <p:ext uri="{BB962C8B-B14F-4D97-AF65-F5344CB8AC3E}">
        <p14:creationId xmlns:p14="http://schemas.microsoft.com/office/powerpoint/2010/main" val="3186947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30367F-2B74-5C26-A8D0-ED6EDA02CE21}"/>
              </a:ext>
            </a:extLst>
          </p:cNvPr>
          <p:cNvSpPr>
            <a:spLocks noGrp="1"/>
          </p:cNvSpPr>
          <p:nvPr>
            <p:ph type="dt" sz="half" idx="10"/>
          </p:nvPr>
        </p:nvSpPr>
        <p:spPr/>
        <p:txBody>
          <a:bodyPr/>
          <a:lstStyle/>
          <a:p>
            <a:fld id="{BF404B3B-B881-44D1-B809-430BB0D0574E}" type="datetimeFigureOut">
              <a:rPr lang="en-US" smtClean="0"/>
              <a:t>21/05/2026</a:t>
            </a:fld>
            <a:endParaRPr lang="en-US"/>
          </a:p>
        </p:txBody>
      </p:sp>
      <p:sp>
        <p:nvSpPr>
          <p:cNvPr id="3" name="Footer Placeholder 2">
            <a:extLst>
              <a:ext uri="{FF2B5EF4-FFF2-40B4-BE49-F238E27FC236}">
                <a16:creationId xmlns:a16="http://schemas.microsoft.com/office/drawing/2014/main" id="{F3C0AFD4-1D3C-4A47-E89A-0B2F15A9C6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BE0C91D-35C4-0FF5-2B41-E3C64BCC6834}"/>
              </a:ext>
            </a:extLst>
          </p:cNvPr>
          <p:cNvSpPr>
            <a:spLocks noGrp="1"/>
          </p:cNvSpPr>
          <p:nvPr>
            <p:ph type="sldNum" sz="quarter" idx="12"/>
          </p:nvPr>
        </p:nvSpPr>
        <p:spPr/>
        <p:txBody>
          <a:bodyPr/>
          <a:lstStyle/>
          <a:p>
            <a:fld id="{25DEA72B-0AFF-45DD-A6EB-763826C11F89}" type="slidenum">
              <a:rPr lang="en-US" smtClean="0"/>
              <a:t>‹#›</a:t>
            </a:fld>
            <a:endParaRPr lang="en-US"/>
          </a:p>
        </p:txBody>
      </p:sp>
    </p:spTree>
    <p:extLst>
      <p:ext uri="{BB962C8B-B14F-4D97-AF65-F5344CB8AC3E}">
        <p14:creationId xmlns:p14="http://schemas.microsoft.com/office/powerpoint/2010/main" val="4226572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E7A57-08D2-0659-80C3-A7C1576A1F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A092A66-82B0-A819-81F1-BF38E75367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721E5E-AEC3-EB0C-B32D-D127BFCAB6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3945D6-9B22-EB3C-CC2C-05F2D9FA82E2}"/>
              </a:ext>
            </a:extLst>
          </p:cNvPr>
          <p:cNvSpPr>
            <a:spLocks noGrp="1"/>
          </p:cNvSpPr>
          <p:nvPr>
            <p:ph type="dt" sz="half" idx="10"/>
          </p:nvPr>
        </p:nvSpPr>
        <p:spPr/>
        <p:txBody>
          <a:bodyPr/>
          <a:lstStyle/>
          <a:p>
            <a:fld id="{BF404B3B-B881-44D1-B809-430BB0D0574E}" type="datetimeFigureOut">
              <a:rPr lang="en-US" smtClean="0"/>
              <a:t>21/05/2026</a:t>
            </a:fld>
            <a:endParaRPr lang="en-US"/>
          </a:p>
        </p:txBody>
      </p:sp>
      <p:sp>
        <p:nvSpPr>
          <p:cNvPr id="6" name="Footer Placeholder 5">
            <a:extLst>
              <a:ext uri="{FF2B5EF4-FFF2-40B4-BE49-F238E27FC236}">
                <a16:creationId xmlns:a16="http://schemas.microsoft.com/office/drawing/2014/main" id="{7B658A82-B50A-C4B0-AA37-0BC4A28D21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ED97E2-EBB7-6FF9-AB52-02B4A5FC5A4D}"/>
              </a:ext>
            </a:extLst>
          </p:cNvPr>
          <p:cNvSpPr>
            <a:spLocks noGrp="1"/>
          </p:cNvSpPr>
          <p:nvPr>
            <p:ph type="sldNum" sz="quarter" idx="12"/>
          </p:nvPr>
        </p:nvSpPr>
        <p:spPr/>
        <p:txBody>
          <a:bodyPr/>
          <a:lstStyle/>
          <a:p>
            <a:fld id="{25DEA72B-0AFF-45DD-A6EB-763826C11F89}" type="slidenum">
              <a:rPr lang="en-US" smtClean="0"/>
              <a:t>‹#›</a:t>
            </a:fld>
            <a:endParaRPr lang="en-US"/>
          </a:p>
        </p:txBody>
      </p:sp>
    </p:spTree>
    <p:extLst>
      <p:ext uri="{BB962C8B-B14F-4D97-AF65-F5344CB8AC3E}">
        <p14:creationId xmlns:p14="http://schemas.microsoft.com/office/powerpoint/2010/main" val="1028645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D6BA2-D186-53CA-ABE4-FFD416C73D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7DD3CA9-F89E-2372-5766-C6FCD0E787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5E18734-48EF-7942-B54F-014E4B6A41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A77AC8-802F-33A3-C111-850F86D3FD8B}"/>
              </a:ext>
            </a:extLst>
          </p:cNvPr>
          <p:cNvSpPr>
            <a:spLocks noGrp="1"/>
          </p:cNvSpPr>
          <p:nvPr>
            <p:ph type="dt" sz="half" idx="10"/>
          </p:nvPr>
        </p:nvSpPr>
        <p:spPr/>
        <p:txBody>
          <a:bodyPr/>
          <a:lstStyle/>
          <a:p>
            <a:fld id="{BF404B3B-B881-44D1-B809-430BB0D0574E}" type="datetimeFigureOut">
              <a:rPr lang="en-US" smtClean="0"/>
              <a:t>21/05/2026</a:t>
            </a:fld>
            <a:endParaRPr lang="en-US"/>
          </a:p>
        </p:txBody>
      </p:sp>
      <p:sp>
        <p:nvSpPr>
          <p:cNvPr id="6" name="Footer Placeholder 5">
            <a:extLst>
              <a:ext uri="{FF2B5EF4-FFF2-40B4-BE49-F238E27FC236}">
                <a16:creationId xmlns:a16="http://schemas.microsoft.com/office/drawing/2014/main" id="{0E55E80D-0AF0-B6BF-3CBB-B86C062AF0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A25E84-CF82-29CE-56CA-569F9DC5978C}"/>
              </a:ext>
            </a:extLst>
          </p:cNvPr>
          <p:cNvSpPr>
            <a:spLocks noGrp="1"/>
          </p:cNvSpPr>
          <p:nvPr>
            <p:ph type="sldNum" sz="quarter" idx="12"/>
          </p:nvPr>
        </p:nvSpPr>
        <p:spPr/>
        <p:txBody>
          <a:bodyPr/>
          <a:lstStyle/>
          <a:p>
            <a:fld id="{25DEA72B-0AFF-45DD-A6EB-763826C11F89}" type="slidenum">
              <a:rPr lang="en-US" smtClean="0"/>
              <a:t>‹#›</a:t>
            </a:fld>
            <a:endParaRPr lang="en-US"/>
          </a:p>
        </p:txBody>
      </p:sp>
    </p:spTree>
    <p:extLst>
      <p:ext uri="{BB962C8B-B14F-4D97-AF65-F5344CB8AC3E}">
        <p14:creationId xmlns:p14="http://schemas.microsoft.com/office/powerpoint/2010/main" val="1232421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0ECF0-6BD0-DC04-58DD-4F66752758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B02686E-D0D6-93BF-7A03-7F33BC6E5B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69ED32-49B1-38AB-FF14-C69F5E2CDB9A}"/>
              </a:ext>
            </a:extLst>
          </p:cNvPr>
          <p:cNvSpPr>
            <a:spLocks noGrp="1"/>
          </p:cNvSpPr>
          <p:nvPr>
            <p:ph type="dt" sz="half" idx="10"/>
          </p:nvPr>
        </p:nvSpPr>
        <p:spPr/>
        <p:txBody>
          <a:bodyPr/>
          <a:lstStyle/>
          <a:p>
            <a:fld id="{BF404B3B-B881-44D1-B809-430BB0D0574E}" type="datetimeFigureOut">
              <a:rPr lang="en-US" smtClean="0"/>
              <a:t>21/05/2026</a:t>
            </a:fld>
            <a:endParaRPr lang="en-US"/>
          </a:p>
        </p:txBody>
      </p:sp>
      <p:sp>
        <p:nvSpPr>
          <p:cNvPr id="5" name="Footer Placeholder 4">
            <a:extLst>
              <a:ext uri="{FF2B5EF4-FFF2-40B4-BE49-F238E27FC236}">
                <a16:creationId xmlns:a16="http://schemas.microsoft.com/office/drawing/2014/main" id="{3C667F88-7355-2975-5C49-E2B9C4F58A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13906C-AF6D-305E-53F5-2F61C106E536}"/>
              </a:ext>
            </a:extLst>
          </p:cNvPr>
          <p:cNvSpPr>
            <a:spLocks noGrp="1"/>
          </p:cNvSpPr>
          <p:nvPr>
            <p:ph type="sldNum" sz="quarter" idx="12"/>
          </p:nvPr>
        </p:nvSpPr>
        <p:spPr/>
        <p:txBody>
          <a:bodyPr/>
          <a:lstStyle/>
          <a:p>
            <a:fld id="{25DEA72B-0AFF-45DD-A6EB-763826C11F89}" type="slidenum">
              <a:rPr lang="en-US" smtClean="0"/>
              <a:t>‹#›</a:t>
            </a:fld>
            <a:endParaRPr lang="en-US"/>
          </a:p>
        </p:txBody>
      </p:sp>
    </p:spTree>
    <p:extLst>
      <p:ext uri="{BB962C8B-B14F-4D97-AF65-F5344CB8AC3E}">
        <p14:creationId xmlns:p14="http://schemas.microsoft.com/office/powerpoint/2010/main" val="2975290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E63C1D-9F68-9A40-9D6F-35E70C08253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46E8D05-C409-2C7A-5522-E3065C04A9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A0587C-6FAA-D807-01C3-71ABA21B81D7}"/>
              </a:ext>
            </a:extLst>
          </p:cNvPr>
          <p:cNvSpPr>
            <a:spLocks noGrp="1"/>
          </p:cNvSpPr>
          <p:nvPr>
            <p:ph type="dt" sz="half" idx="10"/>
          </p:nvPr>
        </p:nvSpPr>
        <p:spPr/>
        <p:txBody>
          <a:bodyPr/>
          <a:lstStyle/>
          <a:p>
            <a:fld id="{BF404B3B-B881-44D1-B809-430BB0D0574E}" type="datetimeFigureOut">
              <a:rPr lang="en-US" smtClean="0"/>
              <a:t>21/05/2026</a:t>
            </a:fld>
            <a:endParaRPr lang="en-US"/>
          </a:p>
        </p:txBody>
      </p:sp>
      <p:sp>
        <p:nvSpPr>
          <p:cNvPr id="5" name="Footer Placeholder 4">
            <a:extLst>
              <a:ext uri="{FF2B5EF4-FFF2-40B4-BE49-F238E27FC236}">
                <a16:creationId xmlns:a16="http://schemas.microsoft.com/office/drawing/2014/main" id="{7F3A495C-C7BF-D178-60A2-375AB35544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DE1356-6735-B064-B3C3-D9A308B3FF0C}"/>
              </a:ext>
            </a:extLst>
          </p:cNvPr>
          <p:cNvSpPr>
            <a:spLocks noGrp="1"/>
          </p:cNvSpPr>
          <p:nvPr>
            <p:ph type="sldNum" sz="quarter" idx="12"/>
          </p:nvPr>
        </p:nvSpPr>
        <p:spPr/>
        <p:txBody>
          <a:bodyPr/>
          <a:lstStyle/>
          <a:p>
            <a:fld id="{25DEA72B-0AFF-45DD-A6EB-763826C11F89}" type="slidenum">
              <a:rPr lang="en-US" smtClean="0"/>
              <a:t>‹#›</a:t>
            </a:fld>
            <a:endParaRPr lang="en-US"/>
          </a:p>
        </p:txBody>
      </p:sp>
    </p:spTree>
    <p:extLst>
      <p:ext uri="{BB962C8B-B14F-4D97-AF65-F5344CB8AC3E}">
        <p14:creationId xmlns:p14="http://schemas.microsoft.com/office/powerpoint/2010/main" val="1751675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A8BA78-8D8D-8F05-2AE8-0BC6B33410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36E3105-A2F4-2033-20D3-B4A6B5BD7E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E664CA-0D5F-07E0-C5A2-34B501805C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F404B3B-B881-44D1-B809-430BB0D0574E}" type="datetimeFigureOut">
              <a:rPr lang="en-US" smtClean="0"/>
              <a:t>21/05/2026</a:t>
            </a:fld>
            <a:endParaRPr lang="en-US"/>
          </a:p>
        </p:txBody>
      </p:sp>
      <p:sp>
        <p:nvSpPr>
          <p:cNvPr id="5" name="Footer Placeholder 4">
            <a:extLst>
              <a:ext uri="{FF2B5EF4-FFF2-40B4-BE49-F238E27FC236}">
                <a16:creationId xmlns:a16="http://schemas.microsoft.com/office/drawing/2014/main" id="{44B8D325-C51E-B4E0-16B1-5FB7793810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BF2741-ACC1-8145-F02E-9912FE7127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5DEA72B-0AFF-45DD-A6EB-763826C11F89}" type="slidenum">
              <a:rPr lang="en-US" smtClean="0"/>
              <a:t>‹#›</a:t>
            </a:fld>
            <a:endParaRPr lang="en-US"/>
          </a:p>
        </p:txBody>
      </p:sp>
    </p:spTree>
    <p:extLst>
      <p:ext uri="{BB962C8B-B14F-4D97-AF65-F5344CB8AC3E}">
        <p14:creationId xmlns:p14="http://schemas.microsoft.com/office/powerpoint/2010/main" val="2775039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ccs.deloitteresources.com/dccs/AnalystUI/AnalystHome.aspx"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seaportal.deloitteresources.com/sites/Quality/SiteAssets/DCCS/Quick%20Reference%20Cards/Quick%20Reference%20Card%20Identifying%20Client%20Side%20of%20Non-Assurance%20Relevant%20Party.pdf"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new-desc.com/admin/search/entity-search" TargetMode="Externa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app.powerbi.com/groups/me/apps/561bf645-5ca2-4bec-9210-ceaa3e3994a3/reports/656d2e44-0e32-4eaf-a4f0-74c7b59bd3f6/ReportSection973a15e5c0ebb251ee5a?experience=power-bi" TargetMode="Externa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hyperlink" Target="https://apcdeloitte.sharepoint.com/sites/SEA/RRG/SitePages/CollabHome.aspx"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seaclientonboardingtool.deloitteresources.com/superadmin/allrequests" TargetMode="Externa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apcdeloitte.sharepoint.com/:w:/r/sites/SEADCCS/Shared%20Documents/General/SEA%20Conflicts%20Protocol/SEA%20Conflicts%20Protocol%20v1.1%201.docx?d=wf71dec9eb5804a8b8fbfcd2057f1b3ef&amp;csf=1&amp;web=1&amp;e=jplWEf" TargetMode="External"/><Relationship Id="rId5" Type="http://schemas.openxmlformats.org/officeDocument/2006/relationships/image" Target="../media/image37.png"/><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https://seaportal.deloitteresources.com/sites/Quality/SiteAssets/SitePages/DCCS/Personal%20Conflicts%20Guidance.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BF802-32E5-53CC-9D02-7502614BC6D2}"/>
              </a:ext>
            </a:extLst>
          </p:cNvPr>
          <p:cNvSpPr>
            <a:spLocks noGrp="1"/>
          </p:cNvSpPr>
          <p:nvPr>
            <p:ph type="ctrTitle"/>
          </p:nvPr>
        </p:nvSpPr>
        <p:spPr/>
        <p:txBody>
          <a:bodyPr/>
          <a:lstStyle/>
          <a:p>
            <a:r>
              <a:rPr lang="en-US" dirty="0"/>
              <a:t>Quick Reference Card</a:t>
            </a:r>
          </a:p>
        </p:txBody>
      </p:sp>
      <p:sp>
        <p:nvSpPr>
          <p:cNvPr id="3" name="Subtitle 2">
            <a:extLst>
              <a:ext uri="{FF2B5EF4-FFF2-40B4-BE49-F238E27FC236}">
                <a16:creationId xmlns:a16="http://schemas.microsoft.com/office/drawing/2014/main" id="{62E87478-6BFE-04E8-84A5-DC699787050E}"/>
              </a:ext>
            </a:extLst>
          </p:cNvPr>
          <p:cNvSpPr>
            <a:spLocks noGrp="1"/>
          </p:cNvSpPr>
          <p:nvPr>
            <p:ph type="subTitle" idx="1"/>
          </p:nvPr>
        </p:nvSpPr>
        <p:spPr/>
        <p:txBody>
          <a:bodyPr/>
          <a:lstStyle/>
          <a:p>
            <a:r>
              <a:rPr lang="en-US" dirty="0"/>
              <a:t>SEA T&amp;T </a:t>
            </a:r>
          </a:p>
        </p:txBody>
      </p:sp>
    </p:spTree>
    <p:extLst>
      <p:ext uri="{BB962C8B-B14F-4D97-AF65-F5344CB8AC3E}">
        <p14:creationId xmlns:p14="http://schemas.microsoft.com/office/powerpoint/2010/main" val="3366926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D8F0E-E955-26FE-E285-110A5C510636}"/>
              </a:ext>
            </a:extLst>
          </p:cNvPr>
          <p:cNvSpPr>
            <a:spLocks noGrp="1"/>
          </p:cNvSpPr>
          <p:nvPr>
            <p:ph type="title"/>
          </p:nvPr>
        </p:nvSpPr>
        <p:spPr>
          <a:xfrm>
            <a:off x="838200" y="365125"/>
            <a:ext cx="9956800" cy="442537"/>
          </a:xfrm>
        </p:spPr>
        <p:txBody>
          <a:bodyPr>
            <a:noAutofit/>
          </a:bodyPr>
          <a:lstStyle/>
          <a:p>
            <a:r>
              <a:rPr lang="en-US" sz="3000" dirty="0"/>
              <a:t>Assigning DCCS Request </a:t>
            </a:r>
          </a:p>
        </p:txBody>
      </p:sp>
      <p:sp>
        <p:nvSpPr>
          <p:cNvPr id="3" name="Content Placeholder 2">
            <a:extLst>
              <a:ext uri="{FF2B5EF4-FFF2-40B4-BE49-F238E27FC236}">
                <a16:creationId xmlns:a16="http://schemas.microsoft.com/office/drawing/2014/main" id="{9FF6DAA3-2B79-2B6C-8590-0FDEA3805A37}"/>
              </a:ext>
            </a:extLst>
          </p:cNvPr>
          <p:cNvSpPr>
            <a:spLocks noGrp="1"/>
          </p:cNvSpPr>
          <p:nvPr>
            <p:ph idx="1"/>
          </p:nvPr>
        </p:nvSpPr>
        <p:spPr>
          <a:xfrm>
            <a:off x="503981" y="1345578"/>
            <a:ext cx="5739386" cy="2559788"/>
          </a:xfrm>
        </p:spPr>
        <p:txBody>
          <a:bodyPr>
            <a:normAutofit/>
          </a:bodyPr>
          <a:lstStyle/>
          <a:p>
            <a:r>
              <a:rPr lang="en-US" sz="1400" dirty="0"/>
              <a:t>Go to DCCS system</a:t>
            </a:r>
            <a:r>
              <a:rPr lang="en-US" sz="1400" dirty="0">
                <a:hlinkClick r:id="rId2"/>
              </a:rPr>
              <a:t>: https://dccs.deloitteresources.com/dccs/AnalystUI/AnalystHome.aspx </a:t>
            </a:r>
            <a:endParaRPr lang="en-US" sz="1400" dirty="0"/>
          </a:p>
          <a:p>
            <a:r>
              <a:rPr lang="en-US" sz="1400" dirty="0"/>
              <a:t>Search the Request ID and click “search” button </a:t>
            </a:r>
          </a:p>
          <a:p>
            <a:r>
              <a:rPr lang="en-US" sz="1400" dirty="0"/>
              <a:t>Once the DCCS Request ID appears, click on the Request ID and you will be directed to the Request Management Page</a:t>
            </a:r>
          </a:p>
          <a:p>
            <a:r>
              <a:rPr lang="en-US" sz="1400" dirty="0"/>
              <a:t>In the Request Management Page, click “Assign to Me” button. Then, your name will appear in the “Assigned to” column. </a:t>
            </a:r>
          </a:p>
        </p:txBody>
      </p:sp>
      <p:grpSp>
        <p:nvGrpSpPr>
          <p:cNvPr id="8" name="Group 7">
            <a:extLst>
              <a:ext uri="{FF2B5EF4-FFF2-40B4-BE49-F238E27FC236}">
                <a16:creationId xmlns:a16="http://schemas.microsoft.com/office/drawing/2014/main" id="{4CC3FD29-3D3A-B205-4ED9-44CD53D252F9}"/>
              </a:ext>
            </a:extLst>
          </p:cNvPr>
          <p:cNvGrpSpPr/>
          <p:nvPr/>
        </p:nvGrpSpPr>
        <p:grpSpPr>
          <a:xfrm>
            <a:off x="6500675" y="458849"/>
            <a:ext cx="5370576" cy="2970151"/>
            <a:chOff x="1124712" y="3054095"/>
            <a:chExt cx="6957106" cy="3168399"/>
          </a:xfrm>
        </p:grpSpPr>
        <p:pic>
          <p:nvPicPr>
            <p:cNvPr id="5" name="Picture 4">
              <a:extLst>
                <a:ext uri="{FF2B5EF4-FFF2-40B4-BE49-F238E27FC236}">
                  <a16:creationId xmlns:a16="http://schemas.microsoft.com/office/drawing/2014/main" id="{9DE795BE-8B31-A4ED-D876-68F9460215A5}"/>
                </a:ext>
              </a:extLst>
            </p:cNvPr>
            <p:cNvPicPr>
              <a:picLocks noChangeAspect="1"/>
            </p:cNvPicPr>
            <p:nvPr/>
          </p:nvPicPr>
          <p:blipFill>
            <a:blip r:embed="rId3"/>
            <a:stretch>
              <a:fillRect/>
            </a:stretch>
          </p:blipFill>
          <p:spPr>
            <a:xfrm>
              <a:off x="1124712" y="3054095"/>
              <a:ext cx="6957106" cy="3168399"/>
            </a:xfrm>
            <a:prstGeom prst="rect">
              <a:avLst/>
            </a:prstGeom>
          </p:spPr>
        </p:pic>
        <p:sp>
          <p:nvSpPr>
            <p:cNvPr id="6" name="Rectangle 5">
              <a:extLst>
                <a:ext uri="{FF2B5EF4-FFF2-40B4-BE49-F238E27FC236}">
                  <a16:creationId xmlns:a16="http://schemas.microsoft.com/office/drawing/2014/main" id="{7EC49B2F-6A81-F1F3-ED24-5745C4CA5AD8}"/>
                </a:ext>
              </a:extLst>
            </p:cNvPr>
            <p:cNvSpPr/>
            <p:nvPr/>
          </p:nvSpPr>
          <p:spPr>
            <a:xfrm>
              <a:off x="1124712" y="3849624"/>
              <a:ext cx="1216152" cy="21031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4351033-8685-6C85-840C-97E807031A11}"/>
                </a:ext>
              </a:extLst>
            </p:cNvPr>
            <p:cNvSpPr/>
            <p:nvPr/>
          </p:nvSpPr>
          <p:spPr>
            <a:xfrm>
              <a:off x="4659607" y="5062728"/>
              <a:ext cx="1037105" cy="14935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6DE06837-F36D-ABDA-3C7E-6904770768BE}"/>
              </a:ext>
            </a:extLst>
          </p:cNvPr>
          <p:cNvGrpSpPr/>
          <p:nvPr/>
        </p:nvGrpSpPr>
        <p:grpSpPr>
          <a:xfrm>
            <a:off x="6218985" y="3905366"/>
            <a:ext cx="5577838" cy="2396718"/>
            <a:chOff x="6272788" y="3011311"/>
            <a:chExt cx="5577838" cy="2396718"/>
          </a:xfrm>
        </p:grpSpPr>
        <p:grpSp>
          <p:nvGrpSpPr>
            <p:cNvPr id="17" name="Group 16">
              <a:extLst>
                <a:ext uri="{FF2B5EF4-FFF2-40B4-BE49-F238E27FC236}">
                  <a16:creationId xmlns:a16="http://schemas.microsoft.com/office/drawing/2014/main" id="{F57737D5-FCE9-76EE-24E1-F64BE1876857}"/>
                </a:ext>
              </a:extLst>
            </p:cNvPr>
            <p:cNvGrpSpPr/>
            <p:nvPr/>
          </p:nvGrpSpPr>
          <p:grpSpPr>
            <a:xfrm>
              <a:off x="6288026" y="3011311"/>
              <a:ext cx="5562600" cy="2396718"/>
              <a:chOff x="6096000" y="3782407"/>
              <a:chExt cx="5562600" cy="2396718"/>
            </a:xfrm>
          </p:grpSpPr>
          <p:pic>
            <p:nvPicPr>
              <p:cNvPr id="10" name="Picture 9">
                <a:extLst>
                  <a:ext uri="{FF2B5EF4-FFF2-40B4-BE49-F238E27FC236}">
                    <a16:creationId xmlns:a16="http://schemas.microsoft.com/office/drawing/2014/main" id="{B08D84B3-AAE5-AB56-333E-E73B1C33ECC4}"/>
                  </a:ext>
                </a:extLst>
              </p:cNvPr>
              <p:cNvPicPr>
                <a:picLocks noChangeAspect="1"/>
              </p:cNvPicPr>
              <p:nvPr/>
            </p:nvPicPr>
            <p:blipFill>
              <a:blip r:embed="rId4"/>
              <a:stretch>
                <a:fillRect/>
              </a:stretch>
            </p:blipFill>
            <p:spPr>
              <a:xfrm>
                <a:off x="6096000" y="3782407"/>
                <a:ext cx="5562600" cy="2396718"/>
              </a:xfrm>
              <a:prstGeom prst="rect">
                <a:avLst/>
              </a:prstGeom>
            </p:spPr>
          </p:pic>
          <p:sp>
            <p:nvSpPr>
              <p:cNvPr id="16" name="Rectangle 15">
                <a:extLst>
                  <a:ext uri="{FF2B5EF4-FFF2-40B4-BE49-F238E27FC236}">
                    <a16:creationId xmlns:a16="http://schemas.microsoft.com/office/drawing/2014/main" id="{DC7D11AC-8638-B7D9-0316-631C14C76BC0}"/>
                  </a:ext>
                </a:extLst>
              </p:cNvPr>
              <p:cNvSpPr/>
              <p:nvPr/>
            </p:nvSpPr>
            <p:spPr>
              <a:xfrm>
                <a:off x="6105144" y="4009401"/>
                <a:ext cx="1109472" cy="1511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E0883643-E5DD-DD12-080C-301278C5E315}"/>
                </a:ext>
              </a:extLst>
            </p:cNvPr>
            <p:cNvSpPr/>
            <p:nvPr/>
          </p:nvSpPr>
          <p:spPr>
            <a:xfrm>
              <a:off x="6272788" y="4966128"/>
              <a:ext cx="496824" cy="2194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2" name="Picture 21">
            <a:extLst>
              <a:ext uri="{FF2B5EF4-FFF2-40B4-BE49-F238E27FC236}">
                <a16:creationId xmlns:a16="http://schemas.microsoft.com/office/drawing/2014/main" id="{79F3B04C-8438-BB8D-F8D3-26BDEC2E5EE5}"/>
              </a:ext>
            </a:extLst>
          </p:cNvPr>
          <p:cNvPicPr>
            <a:picLocks noChangeAspect="1"/>
          </p:cNvPicPr>
          <p:nvPr/>
        </p:nvPicPr>
        <p:blipFill>
          <a:blip r:embed="rId5"/>
          <a:stretch>
            <a:fillRect/>
          </a:stretch>
        </p:blipFill>
        <p:spPr>
          <a:xfrm>
            <a:off x="1137971" y="3758321"/>
            <a:ext cx="4186190" cy="2690807"/>
          </a:xfrm>
          <a:prstGeom prst="rect">
            <a:avLst/>
          </a:prstGeom>
        </p:spPr>
      </p:pic>
      <p:sp>
        <p:nvSpPr>
          <p:cNvPr id="24" name="Rectangle 23">
            <a:extLst>
              <a:ext uri="{FF2B5EF4-FFF2-40B4-BE49-F238E27FC236}">
                <a16:creationId xmlns:a16="http://schemas.microsoft.com/office/drawing/2014/main" id="{78D9F0A8-9992-15A0-3AAB-22BD422ACEBB}"/>
              </a:ext>
            </a:extLst>
          </p:cNvPr>
          <p:cNvSpPr/>
          <p:nvPr/>
        </p:nvSpPr>
        <p:spPr>
          <a:xfrm>
            <a:off x="1392865" y="5973313"/>
            <a:ext cx="3306725" cy="21265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919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79CB91-844D-6870-051B-0E5988C4A4ED}"/>
              </a:ext>
            </a:extLst>
          </p:cNvPr>
          <p:cNvSpPr>
            <a:spLocks noGrp="1"/>
          </p:cNvSpPr>
          <p:nvPr>
            <p:ph idx="1"/>
          </p:nvPr>
        </p:nvSpPr>
        <p:spPr>
          <a:xfrm>
            <a:off x="517451" y="1253331"/>
            <a:ext cx="6317512" cy="4966716"/>
          </a:xfrm>
        </p:spPr>
        <p:txBody>
          <a:bodyPr>
            <a:normAutofit/>
          </a:bodyPr>
          <a:lstStyle/>
          <a:p>
            <a:r>
              <a:rPr lang="en-US" sz="1400" dirty="0"/>
              <a:t>Verify consistency between the service offering and engagement details. Analyst should re-confirm with the requestor if there is any inconsistency for example:</a:t>
            </a:r>
          </a:p>
          <a:p>
            <a:pPr lvl="1">
              <a:buFont typeface="Wingdings" panose="05000000000000000000" pitchFamily="2" charset="2"/>
              <a:buChar char="§"/>
            </a:pPr>
            <a:r>
              <a:rPr lang="en-US" sz="1400" dirty="0"/>
              <a:t>The selected service offering is T&amp;T, but the engagement details is an Audit/Assurance engagement</a:t>
            </a:r>
          </a:p>
          <a:p>
            <a:pPr lvl="1">
              <a:buFont typeface="Wingdings" panose="05000000000000000000" pitchFamily="2" charset="2"/>
              <a:buChar char="§"/>
            </a:pPr>
            <a:r>
              <a:rPr lang="en-US" sz="1400" dirty="0"/>
              <a:t>The engagement details only include name of Client entity, but do not include any scope of services </a:t>
            </a:r>
          </a:p>
          <a:p>
            <a:r>
              <a:rPr lang="en-US" sz="1400" dirty="0"/>
              <a:t>Check if request is for referral work or not under “Is this engagement an inbound work referral from another member firm?”. </a:t>
            </a:r>
          </a:p>
          <a:p>
            <a:pPr lvl="1">
              <a:buFont typeface="Wingdings" panose="05000000000000000000" pitchFamily="2" charset="2"/>
              <a:buChar char="§"/>
            </a:pPr>
            <a:r>
              <a:rPr lang="en-US" sz="1400" dirty="0"/>
              <a:t>If requestor indicates “Yes”, check if there is any IWRF and/or confirmation from the requestor in Request Management Page if this is for local entity check only. </a:t>
            </a:r>
          </a:p>
          <a:p>
            <a:pPr lvl="2">
              <a:buFont typeface="Wingdings" panose="05000000000000000000" pitchFamily="2" charset="2"/>
              <a:buChar char="Ø"/>
            </a:pPr>
            <a:r>
              <a:rPr lang="en-US" sz="1400" dirty="0"/>
              <a:t>If IWRF and confirmation of performing local entity check has been obtained from ET/Gov. team, please proceed to perform local entity check only. </a:t>
            </a:r>
          </a:p>
          <a:p>
            <a:pPr lvl="2">
              <a:buFont typeface="Wingdings" panose="05000000000000000000" pitchFamily="2" charset="2"/>
              <a:buChar char="Ø"/>
            </a:pPr>
            <a:r>
              <a:rPr lang="en-US" sz="1400" dirty="0"/>
              <a:t>If no IWRF or confirmation provided, analysts should re-confirm with ET/Gov. team whether this is for local entity check only. </a:t>
            </a:r>
          </a:p>
          <a:p>
            <a:r>
              <a:rPr lang="en-US" sz="1400" dirty="0"/>
              <a:t>If request submitted by Governance team, only contact the Gov. team or the requestor if key information appears incomplete or inconsistent </a:t>
            </a:r>
            <a:endParaRPr lang="en-US" sz="1800" dirty="0"/>
          </a:p>
          <a:p>
            <a:pPr lvl="1"/>
            <a:endParaRPr lang="en-US" sz="1400" dirty="0"/>
          </a:p>
          <a:p>
            <a:pPr lvl="1"/>
            <a:endParaRPr lang="en-US" sz="1400" dirty="0"/>
          </a:p>
        </p:txBody>
      </p:sp>
      <p:sp>
        <p:nvSpPr>
          <p:cNvPr id="8" name="Title 1">
            <a:extLst>
              <a:ext uri="{FF2B5EF4-FFF2-40B4-BE49-F238E27FC236}">
                <a16:creationId xmlns:a16="http://schemas.microsoft.com/office/drawing/2014/main" id="{6483C7BC-79C7-ACBC-D9E3-F4B9659708EB}"/>
              </a:ext>
            </a:extLst>
          </p:cNvPr>
          <p:cNvSpPr>
            <a:spLocks noGrp="1"/>
          </p:cNvSpPr>
          <p:nvPr>
            <p:ph type="title"/>
          </p:nvPr>
        </p:nvSpPr>
        <p:spPr>
          <a:xfrm>
            <a:off x="517451" y="345086"/>
            <a:ext cx="10976344" cy="442537"/>
          </a:xfrm>
        </p:spPr>
        <p:txBody>
          <a:bodyPr>
            <a:noAutofit/>
          </a:bodyPr>
          <a:lstStyle/>
          <a:p>
            <a:r>
              <a:rPr lang="en-US" sz="3000" dirty="0"/>
              <a:t>Perform Quality Check – Engagement Details</a:t>
            </a:r>
          </a:p>
        </p:txBody>
      </p:sp>
      <p:pic>
        <p:nvPicPr>
          <p:cNvPr id="12" name="Picture 11">
            <a:extLst>
              <a:ext uri="{FF2B5EF4-FFF2-40B4-BE49-F238E27FC236}">
                <a16:creationId xmlns:a16="http://schemas.microsoft.com/office/drawing/2014/main" id="{0631BC8A-9463-AAE1-E53A-F36DF85ECA92}"/>
              </a:ext>
            </a:extLst>
          </p:cNvPr>
          <p:cNvPicPr>
            <a:picLocks noChangeAspect="1"/>
          </p:cNvPicPr>
          <p:nvPr/>
        </p:nvPicPr>
        <p:blipFill>
          <a:blip r:embed="rId2"/>
          <a:stretch>
            <a:fillRect/>
          </a:stretch>
        </p:blipFill>
        <p:spPr>
          <a:xfrm>
            <a:off x="7155712" y="4044396"/>
            <a:ext cx="4913039" cy="505439"/>
          </a:xfrm>
          <a:prstGeom prst="rect">
            <a:avLst/>
          </a:prstGeom>
        </p:spPr>
      </p:pic>
      <p:sp>
        <p:nvSpPr>
          <p:cNvPr id="13" name="TextBox 12">
            <a:extLst>
              <a:ext uri="{FF2B5EF4-FFF2-40B4-BE49-F238E27FC236}">
                <a16:creationId xmlns:a16="http://schemas.microsoft.com/office/drawing/2014/main" id="{27320BEC-B673-1B4F-657D-E8D6DC33C053}"/>
              </a:ext>
            </a:extLst>
          </p:cNvPr>
          <p:cNvSpPr txBox="1"/>
          <p:nvPr/>
        </p:nvSpPr>
        <p:spPr>
          <a:xfrm>
            <a:off x="7155712" y="3646068"/>
            <a:ext cx="2392326" cy="307777"/>
          </a:xfrm>
          <a:prstGeom prst="rect">
            <a:avLst/>
          </a:prstGeom>
          <a:solidFill>
            <a:schemeClr val="accent2">
              <a:lumMod val="40000"/>
              <a:lumOff val="60000"/>
            </a:schemeClr>
          </a:solidFill>
        </p:spPr>
        <p:txBody>
          <a:bodyPr wrap="square" rtlCol="0">
            <a:spAutoFit/>
          </a:bodyPr>
          <a:lstStyle/>
          <a:p>
            <a:r>
              <a:rPr lang="en-US" sz="1400" b="1" dirty="0"/>
              <a:t>Referral Work</a:t>
            </a:r>
          </a:p>
        </p:txBody>
      </p:sp>
      <p:grpSp>
        <p:nvGrpSpPr>
          <p:cNvPr id="18" name="Group 17">
            <a:extLst>
              <a:ext uri="{FF2B5EF4-FFF2-40B4-BE49-F238E27FC236}">
                <a16:creationId xmlns:a16="http://schemas.microsoft.com/office/drawing/2014/main" id="{6EEC7ED8-5D94-E8A2-F2B4-19F05CEB8A72}"/>
              </a:ext>
            </a:extLst>
          </p:cNvPr>
          <p:cNvGrpSpPr/>
          <p:nvPr/>
        </p:nvGrpSpPr>
        <p:grpSpPr>
          <a:xfrm>
            <a:off x="7155712" y="4711288"/>
            <a:ext cx="3154218" cy="2146712"/>
            <a:chOff x="7155712" y="4651739"/>
            <a:chExt cx="3154218" cy="2146712"/>
          </a:xfrm>
        </p:grpSpPr>
        <p:pic>
          <p:nvPicPr>
            <p:cNvPr id="15" name="Picture 14">
              <a:extLst>
                <a:ext uri="{FF2B5EF4-FFF2-40B4-BE49-F238E27FC236}">
                  <a16:creationId xmlns:a16="http://schemas.microsoft.com/office/drawing/2014/main" id="{8DD8DF83-16BD-7843-FD8F-A6B80EAC438C}"/>
                </a:ext>
              </a:extLst>
            </p:cNvPr>
            <p:cNvPicPr>
              <a:picLocks noChangeAspect="1"/>
            </p:cNvPicPr>
            <p:nvPr/>
          </p:nvPicPr>
          <p:blipFill>
            <a:blip r:embed="rId3"/>
            <a:stretch>
              <a:fillRect/>
            </a:stretch>
          </p:blipFill>
          <p:spPr>
            <a:xfrm>
              <a:off x="7155712" y="4651739"/>
              <a:ext cx="3154218" cy="2146712"/>
            </a:xfrm>
            <a:prstGeom prst="rect">
              <a:avLst/>
            </a:prstGeom>
          </p:spPr>
        </p:pic>
        <p:sp>
          <p:nvSpPr>
            <p:cNvPr id="16" name="Rectangle 15">
              <a:extLst>
                <a:ext uri="{FF2B5EF4-FFF2-40B4-BE49-F238E27FC236}">
                  <a16:creationId xmlns:a16="http://schemas.microsoft.com/office/drawing/2014/main" id="{5D38FC17-D78C-EAE4-69A5-28AE5C336F70}"/>
                </a:ext>
              </a:extLst>
            </p:cNvPr>
            <p:cNvSpPr/>
            <p:nvPr/>
          </p:nvSpPr>
          <p:spPr>
            <a:xfrm>
              <a:off x="7230140" y="6432698"/>
              <a:ext cx="3079790" cy="35955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47E06901-0FB1-1663-2899-F00939170C4A}"/>
              </a:ext>
            </a:extLst>
          </p:cNvPr>
          <p:cNvGrpSpPr/>
          <p:nvPr/>
        </p:nvGrpSpPr>
        <p:grpSpPr>
          <a:xfrm>
            <a:off x="7155712" y="899635"/>
            <a:ext cx="4158257" cy="2628450"/>
            <a:chOff x="7155712" y="899635"/>
            <a:chExt cx="4158257" cy="2628450"/>
          </a:xfrm>
        </p:grpSpPr>
        <p:pic>
          <p:nvPicPr>
            <p:cNvPr id="7" name="Picture 6">
              <a:extLst>
                <a:ext uri="{FF2B5EF4-FFF2-40B4-BE49-F238E27FC236}">
                  <a16:creationId xmlns:a16="http://schemas.microsoft.com/office/drawing/2014/main" id="{B5C3817E-050C-4048-80F2-D96C5ADB51A7}"/>
                </a:ext>
              </a:extLst>
            </p:cNvPr>
            <p:cNvPicPr>
              <a:picLocks noChangeAspect="1"/>
            </p:cNvPicPr>
            <p:nvPr/>
          </p:nvPicPr>
          <p:blipFill>
            <a:blip r:embed="rId4"/>
            <a:stretch>
              <a:fillRect/>
            </a:stretch>
          </p:blipFill>
          <p:spPr>
            <a:xfrm>
              <a:off x="7155712" y="899635"/>
              <a:ext cx="4158257" cy="2628450"/>
            </a:xfrm>
            <a:prstGeom prst="rect">
              <a:avLst/>
            </a:prstGeom>
          </p:spPr>
        </p:pic>
        <p:sp>
          <p:nvSpPr>
            <p:cNvPr id="9" name="Rectangle 8">
              <a:extLst>
                <a:ext uri="{FF2B5EF4-FFF2-40B4-BE49-F238E27FC236}">
                  <a16:creationId xmlns:a16="http://schemas.microsoft.com/office/drawing/2014/main" id="{C1B87073-E878-85CA-6DBC-EAF1D2AE6C1C}"/>
                </a:ext>
              </a:extLst>
            </p:cNvPr>
            <p:cNvSpPr/>
            <p:nvPr/>
          </p:nvSpPr>
          <p:spPr>
            <a:xfrm>
              <a:off x="7324344" y="1303934"/>
              <a:ext cx="3931920" cy="25717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7F3C0C0-BA58-3422-EEEF-58FDBE039E36}"/>
                </a:ext>
              </a:extLst>
            </p:cNvPr>
            <p:cNvSpPr/>
            <p:nvPr/>
          </p:nvSpPr>
          <p:spPr>
            <a:xfrm>
              <a:off x="7358156" y="1847088"/>
              <a:ext cx="3834100" cy="5486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37755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62558-17B4-BC52-81DE-AF63B898839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EEE672-99CE-C42F-4019-ED0D6E1B40AC}"/>
              </a:ext>
            </a:extLst>
          </p:cNvPr>
          <p:cNvSpPr>
            <a:spLocks noGrp="1"/>
          </p:cNvSpPr>
          <p:nvPr>
            <p:ph idx="1"/>
          </p:nvPr>
        </p:nvSpPr>
        <p:spPr>
          <a:xfrm>
            <a:off x="682043" y="1192530"/>
            <a:ext cx="7999228" cy="4966716"/>
          </a:xfrm>
        </p:spPr>
        <p:txBody>
          <a:bodyPr>
            <a:normAutofit/>
          </a:bodyPr>
          <a:lstStyle/>
          <a:p>
            <a:r>
              <a:rPr lang="en-US" sz="1200" dirty="0"/>
              <a:t>Verify consistency all relevant parties under “Client Side Entities” section in DCCS have been included </a:t>
            </a:r>
          </a:p>
          <a:p>
            <a:pPr marL="457200" lvl="1" indent="0">
              <a:buNone/>
            </a:pPr>
            <a:r>
              <a:rPr lang="en-US" sz="1200" dirty="0"/>
              <a:t>[Client Side: Client, controlling shareholder (entity/individual), GUP, individual who controls GUP. Other Side: Other-Side party, controlling shareholder (entity/individual), GUP, individual who controls GUP] – please see relevant parties QRC: </a:t>
            </a:r>
            <a:r>
              <a:rPr lang="en-US" sz="1200" dirty="0">
                <a:hlinkClick r:id="rId2"/>
              </a:rPr>
              <a:t>Quick Reference Card Identifying Client Side of Non-Assurance Relevant Party.pdf</a:t>
            </a:r>
            <a:endParaRPr lang="en-US" sz="1200" dirty="0"/>
          </a:p>
          <a:p>
            <a:r>
              <a:rPr lang="en-US" sz="1200" dirty="0"/>
              <a:t>Make sure key information such as entity name, country location, and GUP matches DESC information. DESC should always be treated as the correct source over what’s in the submitted DCCS request.  </a:t>
            </a:r>
          </a:p>
          <a:p>
            <a:r>
              <a:rPr lang="en-US" sz="1200" b="1" dirty="0"/>
              <a:t>If inconsistencies in DESC are found:</a:t>
            </a:r>
            <a:endParaRPr lang="en-US" sz="1200" dirty="0"/>
          </a:p>
          <a:p>
            <a:pPr lvl="1">
              <a:buFont typeface="Wingdings" panose="05000000000000000000" pitchFamily="2" charset="2"/>
              <a:buChar char="§"/>
            </a:pPr>
            <a:r>
              <a:rPr lang="en-US" sz="1200" dirty="0"/>
              <a:t>Contact the requestor to clarify.</a:t>
            </a:r>
          </a:p>
          <a:p>
            <a:pPr lvl="1">
              <a:buFont typeface="Wingdings" panose="05000000000000000000" pitchFamily="2" charset="2"/>
              <a:buChar char="§"/>
            </a:pPr>
            <a:r>
              <a:rPr lang="en-US" sz="1200" dirty="0"/>
              <a:t>If requestor confirmed that the submitted entities are correct (or DESC information is outdated), please contact the SEA DESC team at SEAIndependence@deloitte.com, and copy the assigned Senior Analysts from both the Conflicts and DESC teams, including: Benedict Jarlego – bjarlego@deloitte.com.</a:t>
            </a:r>
          </a:p>
          <a:p>
            <a:pPr lvl="1">
              <a:buFont typeface="Wingdings" panose="05000000000000000000" pitchFamily="2" charset="2"/>
              <a:buChar char="§"/>
            </a:pPr>
            <a:r>
              <a:rPr lang="en-US" sz="1200" dirty="0"/>
              <a:t>Follow up actively and wait for the DESC team’s response before proceeding with request processing.</a:t>
            </a:r>
          </a:p>
          <a:p>
            <a:r>
              <a:rPr lang="en-US" sz="1200" b="1" dirty="0"/>
              <a:t>Common DESC inconsistencies include:</a:t>
            </a:r>
            <a:endParaRPr lang="en-US" sz="1200" dirty="0"/>
          </a:p>
          <a:p>
            <a:pPr lvl="1"/>
            <a:r>
              <a:rPr lang="en-US" sz="1200" dirty="0"/>
              <a:t>The GUP in DESC differs from what’s in the submitted request.</a:t>
            </a:r>
          </a:p>
          <a:p>
            <a:pPr lvl="1"/>
            <a:r>
              <a:rPr lang="en-US" sz="1200" dirty="0"/>
              <a:t>A relevant party in the submitted request does not carry the correct DESC designation, such as missing a Restricted designation when it’s identified as affiliate of a Restricted Entity.</a:t>
            </a:r>
          </a:p>
          <a:p>
            <a:endParaRPr lang="en-US" sz="1200" dirty="0"/>
          </a:p>
          <a:p>
            <a:pPr lvl="1"/>
            <a:endParaRPr lang="en-US" sz="1200" dirty="0"/>
          </a:p>
          <a:p>
            <a:pPr lvl="1"/>
            <a:endParaRPr lang="en-US" sz="1200" dirty="0"/>
          </a:p>
        </p:txBody>
      </p:sp>
      <p:sp>
        <p:nvSpPr>
          <p:cNvPr id="8" name="Title 1">
            <a:extLst>
              <a:ext uri="{FF2B5EF4-FFF2-40B4-BE49-F238E27FC236}">
                <a16:creationId xmlns:a16="http://schemas.microsoft.com/office/drawing/2014/main" id="{4BC63C0D-5313-E520-895B-54D46ABB1C2D}"/>
              </a:ext>
            </a:extLst>
          </p:cNvPr>
          <p:cNvSpPr>
            <a:spLocks noGrp="1"/>
          </p:cNvSpPr>
          <p:nvPr>
            <p:ph type="title"/>
          </p:nvPr>
        </p:nvSpPr>
        <p:spPr>
          <a:xfrm>
            <a:off x="517451" y="345086"/>
            <a:ext cx="9956800" cy="442537"/>
          </a:xfrm>
        </p:spPr>
        <p:txBody>
          <a:bodyPr>
            <a:noAutofit/>
          </a:bodyPr>
          <a:lstStyle/>
          <a:p>
            <a:r>
              <a:rPr lang="en-US" sz="3000" dirty="0"/>
              <a:t>Perform Quality Check – Relevant Parties</a:t>
            </a:r>
          </a:p>
        </p:txBody>
      </p:sp>
      <p:pic>
        <p:nvPicPr>
          <p:cNvPr id="7" name="Picture 6">
            <a:extLst>
              <a:ext uri="{FF2B5EF4-FFF2-40B4-BE49-F238E27FC236}">
                <a16:creationId xmlns:a16="http://schemas.microsoft.com/office/drawing/2014/main" id="{B8249351-98AE-04FE-DE56-C13283CDF3FA}"/>
              </a:ext>
            </a:extLst>
          </p:cNvPr>
          <p:cNvPicPr>
            <a:picLocks noChangeAspect="1"/>
          </p:cNvPicPr>
          <p:nvPr/>
        </p:nvPicPr>
        <p:blipFill>
          <a:blip r:embed="rId3"/>
          <a:stretch>
            <a:fillRect/>
          </a:stretch>
        </p:blipFill>
        <p:spPr>
          <a:xfrm>
            <a:off x="8876087" y="1353915"/>
            <a:ext cx="2876471" cy="2898045"/>
          </a:xfrm>
          <a:prstGeom prst="rect">
            <a:avLst/>
          </a:prstGeom>
        </p:spPr>
      </p:pic>
      <p:grpSp>
        <p:nvGrpSpPr>
          <p:cNvPr id="23" name="Group 22">
            <a:extLst>
              <a:ext uri="{FF2B5EF4-FFF2-40B4-BE49-F238E27FC236}">
                <a16:creationId xmlns:a16="http://schemas.microsoft.com/office/drawing/2014/main" id="{8EE28857-44FC-C5D5-39D7-8F0C8AAF47E4}"/>
              </a:ext>
            </a:extLst>
          </p:cNvPr>
          <p:cNvGrpSpPr/>
          <p:nvPr/>
        </p:nvGrpSpPr>
        <p:grpSpPr>
          <a:xfrm>
            <a:off x="906909" y="4938906"/>
            <a:ext cx="9811254" cy="1130358"/>
            <a:chOff x="998349" y="5100291"/>
            <a:chExt cx="9811254" cy="1130358"/>
          </a:xfrm>
        </p:grpSpPr>
        <p:pic>
          <p:nvPicPr>
            <p:cNvPr id="19" name="Picture 18">
              <a:extLst>
                <a:ext uri="{FF2B5EF4-FFF2-40B4-BE49-F238E27FC236}">
                  <a16:creationId xmlns:a16="http://schemas.microsoft.com/office/drawing/2014/main" id="{69960E5F-E649-278D-DBCD-1811C391CC91}"/>
                </a:ext>
              </a:extLst>
            </p:cNvPr>
            <p:cNvPicPr>
              <a:picLocks noChangeAspect="1"/>
            </p:cNvPicPr>
            <p:nvPr/>
          </p:nvPicPr>
          <p:blipFill>
            <a:blip r:embed="rId4"/>
            <a:stretch>
              <a:fillRect/>
            </a:stretch>
          </p:blipFill>
          <p:spPr>
            <a:xfrm>
              <a:off x="998349" y="5100291"/>
              <a:ext cx="9811254" cy="1130358"/>
            </a:xfrm>
            <a:prstGeom prst="rect">
              <a:avLst/>
            </a:prstGeom>
          </p:spPr>
        </p:pic>
        <p:sp>
          <p:nvSpPr>
            <p:cNvPr id="20" name="Rectangle 19">
              <a:extLst>
                <a:ext uri="{FF2B5EF4-FFF2-40B4-BE49-F238E27FC236}">
                  <a16:creationId xmlns:a16="http://schemas.microsoft.com/office/drawing/2014/main" id="{3A2076B6-3A8F-36C2-4DA5-70AA18DD1BE2}"/>
                </a:ext>
              </a:extLst>
            </p:cNvPr>
            <p:cNvSpPr/>
            <p:nvPr/>
          </p:nvSpPr>
          <p:spPr>
            <a:xfrm>
              <a:off x="5724144" y="5166360"/>
              <a:ext cx="960120" cy="99288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815AA4D-8178-37B9-72AE-92910DDB5FCB}"/>
                </a:ext>
              </a:extLst>
            </p:cNvPr>
            <p:cNvSpPr/>
            <p:nvPr/>
          </p:nvSpPr>
          <p:spPr>
            <a:xfrm>
              <a:off x="1176528" y="5166360"/>
              <a:ext cx="1100328" cy="99288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2BC71D1-2392-1D4A-5967-707A507B7485}"/>
                </a:ext>
              </a:extLst>
            </p:cNvPr>
            <p:cNvSpPr/>
            <p:nvPr/>
          </p:nvSpPr>
          <p:spPr>
            <a:xfrm>
              <a:off x="4395523" y="5166360"/>
              <a:ext cx="1100328" cy="99288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93489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02CBD-0F47-5365-F0CC-AC3C286BB6A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CB73AA-497D-E0F6-7EBC-BB3BD794008E}"/>
              </a:ext>
            </a:extLst>
          </p:cNvPr>
          <p:cNvSpPr>
            <a:spLocks noGrp="1"/>
          </p:cNvSpPr>
          <p:nvPr>
            <p:ph idx="1"/>
          </p:nvPr>
        </p:nvSpPr>
        <p:spPr>
          <a:xfrm>
            <a:off x="633751" y="881634"/>
            <a:ext cx="7044637" cy="4966716"/>
          </a:xfrm>
        </p:spPr>
        <p:txBody>
          <a:bodyPr>
            <a:normAutofit/>
          </a:bodyPr>
          <a:lstStyle/>
          <a:p>
            <a:pPr lvl="0"/>
            <a:r>
              <a:rPr lang="en-US" sz="1400" dirty="0"/>
              <a:t>Go to DESC : </a:t>
            </a:r>
            <a:r>
              <a:rPr lang="en-US" sz="1400" u="sng" dirty="0">
                <a:hlinkClick r:id="rId2"/>
              </a:rPr>
              <a:t>EMS UI | Legal Entity Search</a:t>
            </a:r>
            <a:endParaRPr lang="en-US" sz="1400" dirty="0"/>
          </a:p>
          <a:p>
            <a:pPr lvl="0"/>
            <a:r>
              <a:rPr lang="en-US" sz="1400" dirty="0"/>
              <a:t>Search the entities/individuals in DESC and then click the button with the Search image.  You may filter the search by using “Contains” and/or “Begins with” feature. </a:t>
            </a:r>
          </a:p>
          <a:p>
            <a:pPr lvl="0"/>
            <a:r>
              <a:rPr lang="en-US" sz="1400" dirty="0"/>
              <a:t>If a match hits for the entity/individual, then check under the designation type (i.e. Relationship, DTT/SEC/EUPIE Restricted, Reverse Restricted, Watchlist, Loan Rule, Business Relationship Restricted) and include this match in the table summary result.</a:t>
            </a:r>
          </a:p>
          <a:p>
            <a:pPr lvl="1">
              <a:buFont typeface="Wingdings" panose="05000000000000000000" pitchFamily="2" charset="2"/>
              <a:buChar char="Ø"/>
            </a:pPr>
            <a:r>
              <a:rPr lang="en-US" sz="1400" i="1" dirty="0"/>
              <a:t>Note: For none-designated match, no need to include in the table summary but include the caveat in the “Condition to be satisfied”. </a:t>
            </a:r>
            <a:endParaRPr lang="en-US" sz="1400" dirty="0"/>
          </a:p>
          <a:p>
            <a:r>
              <a:rPr lang="en-US" sz="1400" dirty="0"/>
              <a:t>Analysts may check the entity DESC tree and name of DESC LCSP/RP in DESC by clicking the entity in DESC. Then, you will be directed to a page where the details of DESC information shown (e.g. Legal Entity Name/Alias, Address, DESC tree, DESC LCSP/Responsible Party)</a:t>
            </a:r>
          </a:p>
          <a:p>
            <a:pPr marL="0" lvl="0" indent="0">
              <a:buNone/>
            </a:pPr>
            <a:endParaRPr lang="en-US" sz="1400" dirty="0"/>
          </a:p>
          <a:p>
            <a:pPr marL="457200" lvl="1" indent="0">
              <a:buNone/>
            </a:pPr>
            <a:endParaRPr lang="en-US" sz="1400" dirty="0"/>
          </a:p>
        </p:txBody>
      </p:sp>
      <p:sp>
        <p:nvSpPr>
          <p:cNvPr id="8" name="Title 1">
            <a:extLst>
              <a:ext uri="{FF2B5EF4-FFF2-40B4-BE49-F238E27FC236}">
                <a16:creationId xmlns:a16="http://schemas.microsoft.com/office/drawing/2014/main" id="{84A4BCFF-2D7A-2A21-04C5-6317D8DD2479}"/>
              </a:ext>
            </a:extLst>
          </p:cNvPr>
          <p:cNvSpPr>
            <a:spLocks noGrp="1"/>
          </p:cNvSpPr>
          <p:nvPr>
            <p:ph type="title"/>
          </p:nvPr>
        </p:nvSpPr>
        <p:spPr>
          <a:xfrm>
            <a:off x="517451" y="345086"/>
            <a:ext cx="9956800" cy="442537"/>
          </a:xfrm>
        </p:spPr>
        <p:txBody>
          <a:bodyPr>
            <a:noAutofit/>
          </a:bodyPr>
          <a:lstStyle/>
          <a:p>
            <a:r>
              <a:rPr lang="en-US" sz="3000" dirty="0"/>
              <a:t>Perform Search to Conflicts Databases – DESC </a:t>
            </a:r>
          </a:p>
        </p:txBody>
      </p:sp>
      <p:pic>
        <p:nvPicPr>
          <p:cNvPr id="6" name="Picture 5">
            <a:extLst>
              <a:ext uri="{FF2B5EF4-FFF2-40B4-BE49-F238E27FC236}">
                <a16:creationId xmlns:a16="http://schemas.microsoft.com/office/drawing/2014/main" id="{6EB90D2A-BC30-E084-7F4E-2BC5B0E78D19}"/>
              </a:ext>
            </a:extLst>
          </p:cNvPr>
          <p:cNvPicPr>
            <a:picLocks noChangeAspect="1"/>
          </p:cNvPicPr>
          <p:nvPr/>
        </p:nvPicPr>
        <p:blipFill>
          <a:blip r:embed="rId3"/>
          <a:stretch>
            <a:fillRect/>
          </a:stretch>
        </p:blipFill>
        <p:spPr>
          <a:xfrm>
            <a:off x="7809546" y="2539633"/>
            <a:ext cx="4082225" cy="694063"/>
          </a:xfrm>
          <a:prstGeom prst="rect">
            <a:avLst/>
          </a:prstGeom>
        </p:spPr>
      </p:pic>
      <p:grpSp>
        <p:nvGrpSpPr>
          <p:cNvPr id="11" name="Group 10">
            <a:extLst>
              <a:ext uri="{FF2B5EF4-FFF2-40B4-BE49-F238E27FC236}">
                <a16:creationId xmlns:a16="http://schemas.microsoft.com/office/drawing/2014/main" id="{A8BFE543-63D9-8008-B5FC-80647852EF30}"/>
              </a:ext>
            </a:extLst>
          </p:cNvPr>
          <p:cNvGrpSpPr/>
          <p:nvPr/>
        </p:nvGrpSpPr>
        <p:grpSpPr>
          <a:xfrm>
            <a:off x="7712963" y="1115978"/>
            <a:ext cx="4011374" cy="1274737"/>
            <a:chOff x="7726680" y="1412707"/>
            <a:chExt cx="4011374" cy="1274737"/>
          </a:xfrm>
        </p:grpSpPr>
        <p:pic>
          <p:nvPicPr>
            <p:cNvPr id="5" name="Picture 4">
              <a:extLst>
                <a:ext uri="{FF2B5EF4-FFF2-40B4-BE49-F238E27FC236}">
                  <a16:creationId xmlns:a16="http://schemas.microsoft.com/office/drawing/2014/main" id="{416277D8-E12E-0B90-A4F8-2EFBB2E7BE7C}"/>
                </a:ext>
              </a:extLst>
            </p:cNvPr>
            <p:cNvPicPr>
              <a:picLocks noChangeAspect="1"/>
            </p:cNvPicPr>
            <p:nvPr/>
          </p:nvPicPr>
          <p:blipFill>
            <a:blip r:embed="rId4"/>
            <a:stretch>
              <a:fillRect/>
            </a:stretch>
          </p:blipFill>
          <p:spPr>
            <a:xfrm>
              <a:off x="7726680" y="1412707"/>
              <a:ext cx="4011374" cy="1274737"/>
            </a:xfrm>
            <a:prstGeom prst="rect">
              <a:avLst/>
            </a:prstGeom>
          </p:spPr>
        </p:pic>
        <p:sp>
          <p:nvSpPr>
            <p:cNvPr id="9" name="Rectangle 8">
              <a:extLst>
                <a:ext uri="{FF2B5EF4-FFF2-40B4-BE49-F238E27FC236}">
                  <a16:creationId xmlns:a16="http://schemas.microsoft.com/office/drawing/2014/main" id="{AC402257-866F-D8B7-FF54-592DEB2CE706}"/>
                </a:ext>
              </a:extLst>
            </p:cNvPr>
            <p:cNvSpPr/>
            <p:nvPr/>
          </p:nvSpPr>
          <p:spPr>
            <a:xfrm>
              <a:off x="7823263" y="1684315"/>
              <a:ext cx="945833" cy="7315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2C09C7C-8DD0-1EF1-134D-27BE5099B00A}"/>
                </a:ext>
              </a:extLst>
            </p:cNvPr>
            <p:cNvSpPr/>
            <p:nvPr/>
          </p:nvSpPr>
          <p:spPr>
            <a:xfrm>
              <a:off x="11228589" y="1746504"/>
              <a:ext cx="210556" cy="2230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67EF2568-56DE-4BCC-79C3-1339116A75E2}"/>
              </a:ext>
            </a:extLst>
          </p:cNvPr>
          <p:cNvSpPr txBox="1"/>
          <p:nvPr/>
        </p:nvSpPr>
        <p:spPr>
          <a:xfrm>
            <a:off x="800632" y="3944267"/>
            <a:ext cx="2774672" cy="307777"/>
          </a:xfrm>
          <a:prstGeom prst="rect">
            <a:avLst/>
          </a:prstGeom>
          <a:solidFill>
            <a:schemeClr val="accent2">
              <a:lumMod val="40000"/>
              <a:lumOff val="60000"/>
            </a:schemeClr>
          </a:solidFill>
        </p:spPr>
        <p:txBody>
          <a:bodyPr wrap="square" rtlCol="0">
            <a:spAutoFit/>
          </a:bodyPr>
          <a:lstStyle/>
          <a:p>
            <a:r>
              <a:rPr lang="en-US" sz="1400" b="1" dirty="0"/>
              <a:t>To Check Entity’s DESC Tree</a:t>
            </a:r>
          </a:p>
        </p:txBody>
      </p:sp>
      <p:sp>
        <p:nvSpPr>
          <p:cNvPr id="13" name="TextBox 12">
            <a:extLst>
              <a:ext uri="{FF2B5EF4-FFF2-40B4-BE49-F238E27FC236}">
                <a16:creationId xmlns:a16="http://schemas.microsoft.com/office/drawing/2014/main" id="{692ED063-40EC-F495-396A-F6681A69A102}"/>
              </a:ext>
            </a:extLst>
          </p:cNvPr>
          <p:cNvSpPr txBox="1"/>
          <p:nvPr/>
        </p:nvSpPr>
        <p:spPr>
          <a:xfrm>
            <a:off x="7845269" y="3839651"/>
            <a:ext cx="2392326" cy="307777"/>
          </a:xfrm>
          <a:prstGeom prst="rect">
            <a:avLst/>
          </a:prstGeom>
          <a:solidFill>
            <a:schemeClr val="accent2">
              <a:lumMod val="40000"/>
              <a:lumOff val="60000"/>
            </a:schemeClr>
          </a:solidFill>
        </p:spPr>
        <p:txBody>
          <a:bodyPr wrap="square" rtlCol="0">
            <a:spAutoFit/>
          </a:bodyPr>
          <a:lstStyle/>
          <a:p>
            <a:r>
              <a:rPr lang="en-US" sz="1400" b="1" dirty="0"/>
              <a:t>To Check DESC LCSP/RP </a:t>
            </a:r>
          </a:p>
        </p:txBody>
      </p:sp>
      <p:grpSp>
        <p:nvGrpSpPr>
          <p:cNvPr id="26" name="Group 25">
            <a:extLst>
              <a:ext uri="{FF2B5EF4-FFF2-40B4-BE49-F238E27FC236}">
                <a16:creationId xmlns:a16="http://schemas.microsoft.com/office/drawing/2014/main" id="{C7A2AB6C-1D37-2032-D8C7-4A2279F775DD}"/>
              </a:ext>
            </a:extLst>
          </p:cNvPr>
          <p:cNvGrpSpPr/>
          <p:nvPr/>
        </p:nvGrpSpPr>
        <p:grpSpPr>
          <a:xfrm>
            <a:off x="800632" y="4454498"/>
            <a:ext cx="6276541" cy="2055907"/>
            <a:chOff x="800632" y="4454498"/>
            <a:chExt cx="6276541" cy="2055907"/>
          </a:xfrm>
        </p:grpSpPr>
        <p:pic>
          <p:nvPicPr>
            <p:cNvPr id="15" name="Picture 14">
              <a:extLst>
                <a:ext uri="{FF2B5EF4-FFF2-40B4-BE49-F238E27FC236}">
                  <a16:creationId xmlns:a16="http://schemas.microsoft.com/office/drawing/2014/main" id="{BB59FB89-C478-2795-11A2-9007B5852E35}"/>
                </a:ext>
              </a:extLst>
            </p:cNvPr>
            <p:cNvPicPr>
              <a:picLocks noChangeAspect="1"/>
            </p:cNvPicPr>
            <p:nvPr/>
          </p:nvPicPr>
          <p:blipFill>
            <a:blip r:embed="rId5"/>
            <a:stretch>
              <a:fillRect/>
            </a:stretch>
          </p:blipFill>
          <p:spPr>
            <a:xfrm>
              <a:off x="800632" y="4454498"/>
              <a:ext cx="6276541" cy="2055907"/>
            </a:xfrm>
            <a:prstGeom prst="rect">
              <a:avLst/>
            </a:prstGeom>
          </p:spPr>
        </p:pic>
        <p:sp>
          <p:nvSpPr>
            <p:cNvPr id="18" name="Rectangle 17">
              <a:extLst>
                <a:ext uri="{FF2B5EF4-FFF2-40B4-BE49-F238E27FC236}">
                  <a16:creationId xmlns:a16="http://schemas.microsoft.com/office/drawing/2014/main" id="{E196B311-594D-F821-0F8C-8723BBA217CE}"/>
                </a:ext>
              </a:extLst>
            </p:cNvPr>
            <p:cNvSpPr/>
            <p:nvPr/>
          </p:nvSpPr>
          <p:spPr>
            <a:xfrm>
              <a:off x="4014216" y="4983480"/>
              <a:ext cx="2542032" cy="106984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3E222315-405D-68DB-4350-88A5BDA00614}"/>
              </a:ext>
            </a:extLst>
          </p:cNvPr>
          <p:cNvGrpSpPr/>
          <p:nvPr/>
        </p:nvGrpSpPr>
        <p:grpSpPr>
          <a:xfrm>
            <a:off x="7845270" y="4301317"/>
            <a:ext cx="2392325" cy="2362271"/>
            <a:chOff x="7845270" y="4301317"/>
            <a:chExt cx="2392325" cy="2362271"/>
          </a:xfrm>
        </p:grpSpPr>
        <p:pic>
          <p:nvPicPr>
            <p:cNvPr id="17" name="Picture 16">
              <a:extLst>
                <a:ext uri="{FF2B5EF4-FFF2-40B4-BE49-F238E27FC236}">
                  <a16:creationId xmlns:a16="http://schemas.microsoft.com/office/drawing/2014/main" id="{4D583C38-D1CB-1928-96BB-ADF1C66213F3}"/>
                </a:ext>
              </a:extLst>
            </p:cNvPr>
            <p:cNvPicPr>
              <a:picLocks noChangeAspect="1"/>
            </p:cNvPicPr>
            <p:nvPr/>
          </p:nvPicPr>
          <p:blipFill>
            <a:blip r:embed="rId6"/>
            <a:stretch>
              <a:fillRect/>
            </a:stretch>
          </p:blipFill>
          <p:spPr>
            <a:xfrm>
              <a:off x="7845270" y="4301317"/>
              <a:ext cx="2392325" cy="2362271"/>
            </a:xfrm>
            <a:prstGeom prst="rect">
              <a:avLst/>
            </a:prstGeom>
          </p:spPr>
        </p:pic>
        <p:sp>
          <p:nvSpPr>
            <p:cNvPr id="24" name="Rectangle 23">
              <a:extLst>
                <a:ext uri="{FF2B5EF4-FFF2-40B4-BE49-F238E27FC236}">
                  <a16:creationId xmlns:a16="http://schemas.microsoft.com/office/drawing/2014/main" id="{B86CE936-252E-6F68-A8BE-22331AB54672}"/>
                </a:ext>
              </a:extLst>
            </p:cNvPr>
            <p:cNvSpPr/>
            <p:nvPr/>
          </p:nvSpPr>
          <p:spPr>
            <a:xfrm>
              <a:off x="7879789" y="6053327"/>
              <a:ext cx="1639115" cy="18288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42154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53E8999-2DD2-3606-ED25-BBD4D8481856}"/>
              </a:ext>
            </a:extLst>
          </p:cNvPr>
          <p:cNvSpPr>
            <a:spLocks noGrp="1"/>
          </p:cNvSpPr>
          <p:nvPr>
            <p:ph type="title"/>
          </p:nvPr>
        </p:nvSpPr>
        <p:spPr>
          <a:xfrm>
            <a:off x="517451" y="345086"/>
            <a:ext cx="9956800" cy="442537"/>
          </a:xfrm>
        </p:spPr>
        <p:txBody>
          <a:bodyPr>
            <a:noAutofit/>
          </a:bodyPr>
          <a:lstStyle/>
          <a:p>
            <a:r>
              <a:rPr lang="en-US" sz="3000" dirty="0"/>
              <a:t>Perform Search to Conflicts Databases – WBS </a:t>
            </a:r>
          </a:p>
        </p:txBody>
      </p:sp>
      <p:sp>
        <p:nvSpPr>
          <p:cNvPr id="5" name="Content Placeholder 2">
            <a:extLst>
              <a:ext uri="{FF2B5EF4-FFF2-40B4-BE49-F238E27FC236}">
                <a16:creationId xmlns:a16="http://schemas.microsoft.com/office/drawing/2014/main" id="{49F06E0F-4CFA-97B2-A3C9-E62A12B19EE2}"/>
              </a:ext>
            </a:extLst>
          </p:cNvPr>
          <p:cNvSpPr>
            <a:spLocks noGrp="1"/>
          </p:cNvSpPr>
          <p:nvPr>
            <p:ph idx="1"/>
          </p:nvPr>
        </p:nvSpPr>
        <p:spPr>
          <a:xfrm>
            <a:off x="517451" y="881634"/>
            <a:ext cx="6020636" cy="5811774"/>
          </a:xfrm>
        </p:spPr>
        <p:txBody>
          <a:bodyPr>
            <a:noAutofit/>
          </a:bodyPr>
          <a:lstStyle/>
          <a:p>
            <a:pPr lvl="0"/>
            <a:r>
              <a:rPr lang="en-US" sz="1250" dirty="0"/>
              <a:t>Go to WBS Listing Database: </a:t>
            </a:r>
            <a:r>
              <a:rPr lang="en-US" sz="1250" u="sng" dirty="0">
                <a:hlinkClick r:id="rId2"/>
              </a:rPr>
              <a:t>SEA WBS Check - Power BI</a:t>
            </a:r>
            <a:endParaRPr lang="en-US" sz="1250" u="sng" dirty="0"/>
          </a:p>
          <a:p>
            <a:r>
              <a:rPr lang="en-US" sz="1250" dirty="0"/>
              <a:t>Search the entities/individuals in WBS under “Client Name Full”.</a:t>
            </a:r>
          </a:p>
          <a:p>
            <a:r>
              <a:rPr lang="en-US" sz="1250" dirty="0"/>
              <a:t>If a match hits for the entity/individual, check the Client/Individual Name, Practice Office, Business Unit, Partner’s name, as well as Status, and include this match in the table summary result.</a:t>
            </a:r>
          </a:p>
          <a:p>
            <a:pPr lvl="1">
              <a:buFont typeface="Wingdings" panose="05000000000000000000" pitchFamily="2" charset="2"/>
              <a:buChar char="§"/>
            </a:pPr>
            <a:r>
              <a:rPr lang="en-US" sz="1250" dirty="0"/>
              <a:t> For Business Unit, please indicate whether the nature of the identified match is Non-Assurance, Assurance or Audit in table summary result. </a:t>
            </a:r>
          </a:p>
          <a:p>
            <a:pPr marL="1257300" lvl="2" indent="-342900">
              <a:buFont typeface="+mj-lt"/>
              <a:buAutoNum type="alphaLcParenR"/>
            </a:pPr>
            <a:r>
              <a:rPr lang="en-US" sz="1250" dirty="0"/>
              <a:t>If under T&amp;L, SR&amp;T, T&amp;T : should be indicated as “Non-Assurance”</a:t>
            </a:r>
          </a:p>
          <a:p>
            <a:pPr marL="1257300" lvl="2" indent="-342900">
              <a:buFont typeface="+mj-lt"/>
              <a:buAutoNum type="alphaLcParenR"/>
            </a:pPr>
            <a:r>
              <a:rPr lang="en-US" sz="1250" dirty="0"/>
              <a:t>If A&amp;A : should be indicated as “Audit” </a:t>
            </a:r>
            <a:r>
              <a:rPr lang="en-US" sz="1250" b="1" dirty="0"/>
              <a:t>only</a:t>
            </a:r>
            <a:r>
              <a:rPr lang="en-US" sz="1250" dirty="0"/>
              <a:t> if the following shown: </a:t>
            </a:r>
          </a:p>
          <a:p>
            <a:pPr lvl="3">
              <a:buFont typeface="Wingdings" panose="05000000000000000000" pitchFamily="2" charset="2"/>
              <a:buChar char="q"/>
            </a:pPr>
            <a:r>
              <a:rPr lang="en-US" sz="1250" dirty="0"/>
              <a:t>Market Offering L4: A&amp;A: AUD-Large &amp; Complex</a:t>
            </a:r>
          </a:p>
          <a:p>
            <a:pPr lvl="3">
              <a:buFont typeface="Wingdings" panose="05000000000000000000" pitchFamily="2" charset="2"/>
              <a:buChar char="q"/>
            </a:pPr>
            <a:r>
              <a:rPr lang="en-US" sz="1250" dirty="0"/>
              <a:t>WBS Text (contains): Statutory, Financial Statement</a:t>
            </a:r>
          </a:p>
          <a:p>
            <a:pPr marL="1257300" lvl="2" indent="-342900">
              <a:buFont typeface="+mj-lt"/>
              <a:buAutoNum type="alphaLcParenR"/>
            </a:pPr>
            <a:r>
              <a:rPr lang="en-US" sz="1250" dirty="0"/>
              <a:t>If A&amp;A : should be indicated as Assurance</a:t>
            </a:r>
            <a:r>
              <a:rPr lang="en-US" sz="1250" b="1" dirty="0"/>
              <a:t> only </a:t>
            </a:r>
            <a:r>
              <a:rPr lang="en-US" sz="1250" dirty="0"/>
              <a:t>if the following shown: </a:t>
            </a:r>
          </a:p>
          <a:p>
            <a:pPr lvl="3">
              <a:buFont typeface="Wingdings" panose="05000000000000000000" pitchFamily="2" charset="2"/>
              <a:buChar char="q"/>
            </a:pPr>
            <a:r>
              <a:rPr lang="en-US" sz="1250" dirty="0"/>
              <a:t>Market Offering L4: A&amp;A: AUD-Large &amp; Complex</a:t>
            </a:r>
          </a:p>
          <a:p>
            <a:pPr lvl="3">
              <a:buFont typeface="Wingdings" panose="05000000000000000000" pitchFamily="2" charset="2"/>
              <a:buChar char="q"/>
            </a:pPr>
            <a:r>
              <a:rPr lang="en-US" sz="1250" dirty="0"/>
              <a:t>WBS Text (contains): Assurance, Attestation, ISAE</a:t>
            </a:r>
          </a:p>
          <a:p>
            <a:pPr marL="1257300" lvl="2" indent="-342900">
              <a:buFont typeface="+mj-lt"/>
              <a:buAutoNum type="alphaLcParenR"/>
            </a:pPr>
            <a:r>
              <a:rPr lang="en-US" sz="1250" dirty="0"/>
              <a:t>If A&amp;A : should be indicated as “Non-Assurance”  if not fall under point b) and c) above. </a:t>
            </a:r>
          </a:p>
          <a:p>
            <a:pPr lvl="1">
              <a:buFont typeface="Wingdings" panose="05000000000000000000" pitchFamily="2" charset="2"/>
              <a:buChar char="§"/>
            </a:pPr>
            <a:r>
              <a:rPr lang="en-US" sz="1250" dirty="0"/>
              <a:t>For Status, please indicate the Ongoing match. see below guidance: </a:t>
            </a:r>
          </a:p>
          <a:p>
            <a:pPr lvl="2">
              <a:buFont typeface="+mj-lt"/>
              <a:buAutoNum type="alphaLcParenR"/>
            </a:pPr>
            <a:r>
              <a:rPr lang="en-US" sz="1250" dirty="0"/>
              <a:t>If Released: should be indicated as “Ongoing” </a:t>
            </a:r>
          </a:p>
          <a:p>
            <a:pPr lvl="2">
              <a:buFont typeface="+mj-lt"/>
              <a:buAutoNum type="alphaLcParenR"/>
            </a:pPr>
            <a:r>
              <a:rPr lang="en-US" sz="1250" dirty="0"/>
              <a:t>If Technically Completed: should be indicated as “Completed” – </a:t>
            </a:r>
            <a:r>
              <a:rPr lang="en-US" sz="1250" b="1" dirty="0"/>
              <a:t>no need to include completed engagements unless the completed match is an Audit engagement which has been recently completed and still indicated as Restricted entity in DESC. </a:t>
            </a:r>
          </a:p>
          <a:p>
            <a:pPr lvl="3"/>
            <a:r>
              <a:rPr lang="en-US" sz="1250" dirty="0"/>
              <a:t>For completed match, you may check the completion date under “WBS Complete Date”. </a:t>
            </a:r>
          </a:p>
          <a:p>
            <a:endParaRPr lang="en-US" sz="1250" dirty="0"/>
          </a:p>
          <a:p>
            <a:pPr lvl="0"/>
            <a:endParaRPr lang="en-US" sz="1250" dirty="0"/>
          </a:p>
          <a:p>
            <a:pPr marL="0" lvl="0" indent="0">
              <a:buNone/>
            </a:pPr>
            <a:endParaRPr lang="en-US" sz="1250" dirty="0"/>
          </a:p>
          <a:p>
            <a:pPr marL="457200" lvl="1" indent="0">
              <a:buNone/>
            </a:pPr>
            <a:endParaRPr lang="en-US" sz="1250" dirty="0"/>
          </a:p>
        </p:txBody>
      </p:sp>
      <p:pic>
        <p:nvPicPr>
          <p:cNvPr id="6" name="Picture 5">
            <a:extLst>
              <a:ext uri="{FF2B5EF4-FFF2-40B4-BE49-F238E27FC236}">
                <a16:creationId xmlns:a16="http://schemas.microsoft.com/office/drawing/2014/main" id="{9333162F-B942-C175-AF04-F42A282FDD4C}"/>
              </a:ext>
            </a:extLst>
          </p:cNvPr>
          <p:cNvPicPr>
            <a:picLocks noChangeAspect="1"/>
          </p:cNvPicPr>
          <p:nvPr/>
        </p:nvPicPr>
        <p:blipFill>
          <a:blip r:embed="rId3"/>
          <a:stretch>
            <a:fillRect/>
          </a:stretch>
        </p:blipFill>
        <p:spPr>
          <a:xfrm>
            <a:off x="6736588" y="998283"/>
            <a:ext cx="4797682" cy="2794254"/>
          </a:xfrm>
          <a:prstGeom prst="rect">
            <a:avLst/>
          </a:prstGeom>
        </p:spPr>
      </p:pic>
      <p:pic>
        <p:nvPicPr>
          <p:cNvPr id="7" name="Picture 6">
            <a:extLst>
              <a:ext uri="{FF2B5EF4-FFF2-40B4-BE49-F238E27FC236}">
                <a16:creationId xmlns:a16="http://schemas.microsoft.com/office/drawing/2014/main" id="{C3C9799F-D50D-2468-7D8D-EF3C4FEA0ED5}"/>
              </a:ext>
            </a:extLst>
          </p:cNvPr>
          <p:cNvPicPr>
            <a:picLocks noChangeAspect="1"/>
          </p:cNvPicPr>
          <p:nvPr/>
        </p:nvPicPr>
        <p:blipFill>
          <a:blip r:embed="rId4"/>
          <a:stretch>
            <a:fillRect/>
          </a:stretch>
        </p:blipFill>
        <p:spPr>
          <a:xfrm>
            <a:off x="7029194" y="4266044"/>
            <a:ext cx="3807153" cy="744584"/>
          </a:xfrm>
          <a:prstGeom prst="rect">
            <a:avLst/>
          </a:prstGeom>
        </p:spPr>
      </p:pic>
      <p:pic>
        <p:nvPicPr>
          <p:cNvPr id="8" name="Picture 7">
            <a:extLst>
              <a:ext uri="{FF2B5EF4-FFF2-40B4-BE49-F238E27FC236}">
                <a16:creationId xmlns:a16="http://schemas.microsoft.com/office/drawing/2014/main" id="{97FB02B5-5C6D-2B99-6850-8D0FCF297A13}"/>
              </a:ext>
            </a:extLst>
          </p:cNvPr>
          <p:cNvPicPr>
            <a:picLocks noChangeAspect="1"/>
          </p:cNvPicPr>
          <p:nvPr/>
        </p:nvPicPr>
        <p:blipFill>
          <a:blip r:embed="rId5"/>
          <a:stretch>
            <a:fillRect/>
          </a:stretch>
        </p:blipFill>
        <p:spPr>
          <a:xfrm>
            <a:off x="7029194" y="5071698"/>
            <a:ext cx="3807153" cy="748863"/>
          </a:xfrm>
          <a:prstGeom prst="rect">
            <a:avLst/>
          </a:prstGeom>
        </p:spPr>
      </p:pic>
      <p:pic>
        <p:nvPicPr>
          <p:cNvPr id="9" name="Picture 8">
            <a:extLst>
              <a:ext uri="{FF2B5EF4-FFF2-40B4-BE49-F238E27FC236}">
                <a16:creationId xmlns:a16="http://schemas.microsoft.com/office/drawing/2014/main" id="{B6850A68-65F6-29D7-5B17-38F10E4EC1DC}"/>
              </a:ext>
            </a:extLst>
          </p:cNvPr>
          <p:cNvPicPr>
            <a:picLocks noChangeAspect="1"/>
          </p:cNvPicPr>
          <p:nvPr/>
        </p:nvPicPr>
        <p:blipFill>
          <a:blip r:embed="rId6"/>
          <a:stretch>
            <a:fillRect/>
          </a:stretch>
        </p:blipFill>
        <p:spPr>
          <a:xfrm>
            <a:off x="7029194" y="5915725"/>
            <a:ext cx="3807153" cy="716942"/>
          </a:xfrm>
          <a:prstGeom prst="rect">
            <a:avLst/>
          </a:prstGeom>
        </p:spPr>
      </p:pic>
      <p:sp>
        <p:nvSpPr>
          <p:cNvPr id="10" name="TextBox 9">
            <a:extLst>
              <a:ext uri="{FF2B5EF4-FFF2-40B4-BE49-F238E27FC236}">
                <a16:creationId xmlns:a16="http://schemas.microsoft.com/office/drawing/2014/main" id="{D03F9B48-938F-F085-CF73-C141606145B6}"/>
              </a:ext>
            </a:extLst>
          </p:cNvPr>
          <p:cNvSpPr txBox="1"/>
          <p:nvPr/>
        </p:nvSpPr>
        <p:spPr>
          <a:xfrm>
            <a:off x="7029194" y="3875402"/>
            <a:ext cx="2392326" cy="307777"/>
          </a:xfrm>
          <a:prstGeom prst="rect">
            <a:avLst/>
          </a:prstGeom>
          <a:solidFill>
            <a:schemeClr val="accent2">
              <a:lumMod val="40000"/>
              <a:lumOff val="60000"/>
            </a:schemeClr>
          </a:solidFill>
        </p:spPr>
        <p:txBody>
          <a:bodyPr wrap="square" rtlCol="0">
            <a:spAutoFit/>
          </a:bodyPr>
          <a:lstStyle/>
          <a:p>
            <a:r>
              <a:rPr lang="en-US" sz="1400" b="1" dirty="0"/>
              <a:t>Sample Case</a:t>
            </a:r>
          </a:p>
        </p:txBody>
      </p:sp>
    </p:spTree>
    <p:extLst>
      <p:ext uri="{BB962C8B-B14F-4D97-AF65-F5344CB8AC3E}">
        <p14:creationId xmlns:p14="http://schemas.microsoft.com/office/powerpoint/2010/main" val="2321087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1A7052-C13C-4BC1-E2D3-5825EFE729A9}"/>
              </a:ext>
            </a:extLst>
          </p:cNvPr>
          <p:cNvSpPr>
            <a:spLocks noGrp="1"/>
          </p:cNvSpPr>
          <p:nvPr>
            <p:ph idx="1"/>
          </p:nvPr>
        </p:nvSpPr>
        <p:spPr>
          <a:xfrm>
            <a:off x="371855" y="941832"/>
            <a:ext cx="6330697" cy="5180267"/>
          </a:xfrm>
        </p:spPr>
        <p:txBody>
          <a:bodyPr>
            <a:noAutofit/>
          </a:bodyPr>
          <a:lstStyle/>
          <a:p>
            <a:r>
              <a:rPr lang="en-US" sz="1400" dirty="0"/>
              <a:t>Go to New One Window (</a:t>
            </a:r>
            <a:r>
              <a:rPr lang="en-US" sz="1400" dirty="0" err="1"/>
              <a:t>Sharepoint</a:t>
            </a:r>
            <a:r>
              <a:rPr lang="en-US" sz="1400" dirty="0"/>
              <a:t>): </a:t>
            </a:r>
            <a:r>
              <a:rPr lang="en-US" sz="1400" dirty="0">
                <a:hlinkClick r:id="rId3"/>
              </a:rPr>
              <a:t>https://apcdeloitte.sharepoint.com/sites/SEA/RRG/SitePages/CollabHome.aspx</a:t>
            </a:r>
            <a:endParaRPr lang="en-US" sz="1400" dirty="0"/>
          </a:p>
          <a:p>
            <a:r>
              <a:rPr lang="en-US" sz="1400" dirty="0"/>
              <a:t>Search the entities/individuals in the new One Window under the search bar at the top.  </a:t>
            </a:r>
          </a:p>
          <a:p>
            <a:pPr lvl="0"/>
            <a:r>
              <a:rPr lang="en-US" sz="1400" dirty="0"/>
              <a:t>If a match hits for the entity/individual for the following databases (see point A – D below), please include the matches in the table summary result and/or DCCS conditions.</a:t>
            </a:r>
          </a:p>
          <a:p>
            <a:pPr marL="0" lvl="0" indent="0">
              <a:buNone/>
            </a:pPr>
            <a:endParaRPr lang="en-US" sz="1400" dirty="0"/>
          </a:p>
          <a:p>
            <a:pPr marL="914400" lvl="1" indent="-457200">
              <a:buFont typeface="+mj-lt"/>
              <a:buAutoNum type="alphaLcParenR"/>
            </a:pPr>
            <a:r>
              <a:rPr lang="en-US" sz="1400" b="1" dirty="0"/>
              <a:t>Strategic Client </a:t>
            </a:r>
          </a:p>
          <a:p>
            <a:pPr lvl="2"/>
            <a:r>
              <a:rPr lang="en-US" sz="1400" dirty="0"/>
              <a:t>If a match hits, click on the match and check under Entity Name, SEA LCSP and conflict check requirement (approval/notification), and include this match in the table summary result.</a:t>
            </a:r>
          </a:p>
          <a:p>
            <a:pPr marL="914400" lvl="1" indent="-457200">
              <a:buFont typeface="+mj-lt"/>
              <a:buAutoNum type="alphaLcParenR"/>
            </a:pPr>
            <a:endParaRPr lang="en-US" sz="1400" b="1" dirty="0"/>
          </a:p>
          <a:p>
            <a:pPr marL="457200" lvl="1" indent="0">
              <a:buNone/>
            </a:pPr>
            <a:endParaRPr lang="en-US" sz="1400" b="1" dirty="0"/>
          </a:p>
          <a:p>
            <a:pPr marL="457200" lvl="1" indent="0">
              <a:buNone/>
            </a:pPr>
            <a:endParaRPr lang="en-US" sz="1400" b="1" dirty="0"/>
          </a:p>
          <a:p>
            <a:pPr marL="0" indent="0">
              <a:buNone/>
            </a:pPr>
            <a:r>
              <a:rPr lang="en-US" sz="1400" b="1" dirty="0"/>
              <a:t> </a:t>
            </a:r>
            <a:endParaRPr lang="en-US" sz="1400" dirty="0"/>
          </a:p>
        </p:txBody>
      </p:sp>
      <p:sp>
        <p:nvSpPr>
          <p:cNvPr id="4" name="Title 1">
            <a:extLst>
              <a:ext uri="{FF2B5EF4-FFF2-40B4-BE49-F238E27FC236}">
                <a16:creationId xmlns:a16="http://schemas.microsoft.com/office/drawing/2014/main" id="{68422CBD-89A7-64D0-23D9-D3C4F705A70D}"/>
              </a:ext>
            </a:extLst>
          </p:cNvPr>
          <p:cNvSpPr>
            <a:spLocks noGrp="1"/>
          </p:cNvSpPr>
          <p:nvPr>
            <p:ph type="title"/>
          </p:nvPr>
        </p:nvSpPr>
        <p:spPr>
          <a:xfrm>
            <a:off x="517451" y="345086"/>
            <a:ext cx="9956800" cy="442537"/>
          </a:xfrm>
        </p:spPr>
        <p:txBody>
          <a:bodyPr>
            <a:noAutofit/>
          </a:bodyPr>
          <a:lstStyle/>
          <a:p>
            <a:r>
              <a:rPr lang="en-US" sz="2600" dirty="0"/>
              <a:t>Perform Search to Conflicts Databases – New One Window (</a:t>
            </a:r>
            <a:r>
              <a:rPr lang="en-US" sz="2600" dirty="0" err="1"/>
              <a:t>Sharepoint</a:t>
            </a:r>
            <a:r>
              <a:rPr lang="en-US" sz="2600" dirty="0"/>
              <a:t>) </a:t>
            </a:r>
          </a:p>
        </p:txBody>
      </p:sp>
      <p:grpSp>
        <p:nvGrpSpPr>
          <p:cNvPr id="7" name="Group 6">
            <a:extLst>
              <a:ext uri="{FF2B5EF4-FFF2-40B4-BE49-F238E27FC236}">
                <a16:creationId xmlns:a16="http://schemas.microsoft.com/office/drawing/2014/main" id="{7532772F-0E24-1C42-9C14-95C4945B4228}"/>
              </a:ext>
            </a:extLst>
          </p:cNvPr>
          <p:cNvGrpSpPr/>
          <p:nvPr/>
        </p:nvGrpSpPr>
        <p:grpSpPr>
          <a:xfrm>
            <a:off x="6885164" y="1088136"/>
            <a:ext cx="5044709" cy="2160260"/>
            <a:chOff x="6619987" y="941832"/>
            <a:chExt cx="5044709" cy="2160260"/>
          </a:xfrm>
        </p:grpSpPr>
        <p:pic>
          <p:nvPicPr>
            <p:cNvPr id="5" name="Picture 4">
              <a:extLst>
                <a:ext uri="{FF2B5EF4-FFF2-40B4-BE49-F238E27FC236}">
                  <a16:creationId xmlns:a16="http://schemas.microsoft.com/office/drawing/2014/main" id="{835DF212-169C-FCEA-95AA-79E0D8EAE1CD}"/>
                </a:ext>
              </a:extLst>
            </p:cNvPr>
            <p:cNvPicPr>
              <a:picLocks noChangeAspect="1"/>
            </p:cNvPicPr>
            <p:nvPr/>
          </p:nvPicPr>
          <p:blipFill>
            <a:blip r:embed="rId4"/>
            <a:stretch>
              <a:fillRect/>
            </a:stretch>
          </p:blipFill>
          <p:spPr>
            <a:xfrm>
              <a:off x="6619987" y="941832"/>
              <a:ext cx="5044709" cy="2160260"/>
            </a:xfrm>
            <a:prstGeom prst="rect">
              <a:avLst/>
            </a:prstGeom>
          </p:spPr>
        </p:pic>
        <p:sp>
          <p:nvSpPr>
            <p:cNvPr id="6" name="Rectangle 5">
              <a:extLst>
                <a:ext uri="{FF2B5EF4-FFF2-40B4-BE49-F238E27FC236}">
                  <a16:creationId xmlns:a16="http://schemas.microsoft.com/office/drawing/2014/main" id="{7CFAAB95-D3BC-E0DB-343F-342ED0795A21}"/>
                </a:ext>
              </a:extLst>
            </p:cNvPr>
            <p:cNvSpPr/>
            <p:nvPr/>
          </p:nvSpPr>
          <p:spPr>
            <a:xfrm>
              <a:off x="8293608" y="941832"/>
              <a:ext cx="1709928" cy="18288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8C701B13-6571-F4AB-1B46-B2B16E3E8F5E}"/>
              </a:ext>
            </a:extLst>
          </p:cNvPr>
          <p:cNvGrpSpPr/>
          <p:nvPr/>
        </p:nvGrpSpPr>
        <p:grpSpPr>
          <a:xfrm>
            <a:off x="1650290" y="4299226"/>
            <a:ext cx="4948630" cy="2149680"/>
            <a:chOff x="1650290" y="4299226"/>
            <a:chExt cx="4948630" cy="2149680"/>
          </a:xfrm>
        </p:grpSpPr>
        <p:pic>
          <p:nvPicPr>
            <p:cNvPr id="9" name="Picture 8">
              <a:extLst>
                <a:ext uri="{FF2B5EF4-FFF2-40B4-BE49-F238E27FC236}">
                  <a16:creationId xmlns:a16="http://schemas.microsoft.com/office/drawing/2014/main" id="{4E870962-BA5C-A594-608D-B74C531BC8D4}"/>
                </a:ext>
              </a:extLst>
            </p:cNvPr>
            <p:cNvPicPr>
              <a:picLocks noChangeAspect="1"/>
            </p:cNvPicPr>
            <p:nvPr/>
          </p:nvPicPr>
          <p:blipFill>
            <a:blip r:embed="rId5"/>
            <a:stretch>
              <a:fillRect/>
            </a:stretch>
          </p:blipFill>
          <p:spPr>
            <a:xfrm>
              <a:off x="1650290" y="4299226"/>
              <a:ext cx="4948630" cy="2149680"/>
            </a:xfrm>
            <a:prstGeom prst="rect">
              <a:avLst/>
            </a:prstGeom>
          </p:spPr>
        </p:pic>
        <p:sp>
          <p:nvSpPr>
            <p:cNvPr id="12" name="Rectangle 11">
              <a:extLst>
                <a:ext uri="{FF2B5EF4-FFF2-40B4-BE49-F238E27FC236}">
                  <a16:creationId xmlns:a16="http://schemas.microsoft.com/office/drawing/2014/main" id="{06FB1E45-BA39-583D-06D4-48D1C2A0DCD2}"/>
                </a:ext>
              </a:extLst>
            </p:cNvPr>
            <p:cNvSpPr/>
            <p:nvPr/>
          </p:nvSpPr>
          <p:spPr>
            <a:xfrm>
              <a:off x="3575304" y="5870448"/>
              <a:ext cx="950976" cy="16459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552F40AE-51F6-0D86-4F51-0227F0E33818}"/>
              </a:ext>
            </a:extLst>
          </p:cNvPr>
          <p:cNvGrpSpPr/>
          <p:nvPr/>
        </p:nvGrpSpPr>
        <p:grpSpPr>
          <a:xfrm>
            <a:off x="7070665" y="3609605"/>
            <a:ext cx="2782171" cy="2916941"/>
            <a:chOff x="7070665" y="3609605"/>
            <a:chExt cx="2782171" cy="2916941"/>
          </a:xfrm>
        </p:grpSpPr>
        <p:grpSp>
          <p:nvGrpSpPr>
            <p:cNvPr id="17" name="Group 16">
              <a:extLst>
                <a:ext uri="{FF2B5EF4-FFF2-40B4-BE49-F238E27FC236}">
                  <a16:creationId xmlns:a16="http://schemas.microsoft.com/office/drawing/2014/main" id="{79047A27-7B5A-809D-1E88-B29268E6EA9D}"/>
                </a:ext>
              </a:extLst>
            </p:cNvPr>
            <p:cNvGrpSpPr/>
            <p:nvPr/>
          </p:nvGrpSpPr>
          <p:grpSpPr>
            <a:xfrm>
              <a:off x="7070665" y="3609605"/>
              <a:ext cx="2782171" cy="2916941"/>
              <a:chOff x="7318759" y="3807404"/>
              <a:chExt cx="2480052" cy="2705510"/>
            </a:xfrm>
          </p:grpSpPr>
          <p:pic>
            <p:nvPicPr>
              <p:cNvPr id="11" name="Picture 10">
                <a:extLst>
                  <a:ext uri="{FF2B5EF4-FFF2-40B4-BE49-F238E27FC236}">
                    <a16:creationId xmlns:a16="http://schemas.microsoft.com/office/drawing/2014/main" id="{90ADE96B-DEC9-2813-2E11-222B80D2E82A}"/>
                  </a:ext>
                </a:extLst>
              </p:cNvPr>
              <p:cNvPicPr>
                <a:picLocks noChangeAspect="1"/>
              </p:cNvPicPr>
              <p:nvPr/>
            </p:nvPicPr>
            <p:blipFill>
              <a:blip r:embed="rId6"/>
              <a:stretch>
                <a:fillRect/>
              </a:stretch>
            </p:blipFill>
            <p:spPr>
              <a:xfrm>
                <a:off x="7318759" y="3807404"/>
                <a:ext cx="2480052" cy="2705510"/>
              </a:xfrm>
              <a:prstGeom prst="rect">
                <a:avLst/>
              </a:prstGeom>
              <a:ln>
                <a:solidFill>
                  <a:schemeClr val="tx1"/>
                </a:solidFill>
              </a:ln>
            </p:spPr>
          </p:pic>
          <p:sp>
            <p:nvSpPr>
              <p:cNvPr id="14" name="Rectangle 13">
                <a:extLst>
                  <a:ext uri="{FF2B5EF4-FFF2-40B4-BE49-F238E27FC236}">
                    <a16:creationId xmlns:a16="http://schemas.microsoft.com/office/drawing/2014/main" id="{4793DAEA-6D1F-D177-0630-027BFE4240D6}"/>
                  </a:ext>
                </a:extLst>
              </p:cNvPr>
              <p:cNvSpPr/>
              <p:nvPr/>
            </p:nvSpPr>
            <p:spPr>
              <a:xfrm>
                <a:off x="7340023" y="4720857"/>
                <a:ext cx="1144757" cy="21265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4FFF321-85F8-BBEE-BC91-7506AB779881}"/>
                  </a:ext>
                </a:extLst>
              </p:cNvPr>
              <p:cNvSpPr/>
              <p:nvPr/>
            </p:nvSpPr>
            <p:spPr>
              <a:xfrm>
                <a:off x="7340023" y="4968944"/>
                <a:ext cx="1144757" cy="21265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62BB55B-7275-7BB8-95EE-56F598EAA1D6}"/>
                  </a:ext>
                </a:extLst>
              </p:cNvPr>
              <p:cNvSpPr/>
              <p:nvPr/>
            </p:nvSpPr>
            <p:spPr>
              <a:xfrm>
                <a:off x="7343571" y="5305642"/>
                <a:ext cx="1144757" cy="21265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9CE9B0BA-D85B-834E-5905-8D5511C044A3}"/>
                </a:ext>
              </a:extLst>
            </p:cNvPr>
            <p:cNvSpPr/>
            <p:nvPr/>
          </p:nvSpPr>
          <p:spPr>
            <a:xfrm>
              <a:off x="7094519" y="4054549"/>
              <a:ext cx="1284211" cy="24467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2401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673FB7A-E652-A496-FEAE-5ED565C9C54F}"/>
              </a:ext>
            </a:extLst>
          </p:cNvPr>
          <p:cNvSpPr>
            <a:spLocks noGrp="1"/>
          </p:cNvSpPr>
          <p:nvPr>
            <p:ph type="title"/>
          </p:nvPr>
        </p:nvSpPr>
        <p:spPr>
          <a:xfrm>
            <a:off x="517451" y="345086"/>
            <a:ext cx="9956800" cy="442537"/>
          </a:xfrm>
        </p:spPr>
        <p:txBody>
          <a:bodyPr>
            <a:noAutofit/>
          </a:bodyPr>
          <a:lstStyle/>
          <a:p>
            <a:r>
              <a:rPr lang="en-US" sz="2600" dirty="0"/>
              <a:t>Perform Search to Conflicts Databases – New One Window (</a:t>
            </a:r>
            <a:r>
              <a:rPr lang="en-US" sz="2600" dirty="0" err="1"/>
              <a:t>Sharepoint</a:t>
            </a:r>
            <a:r>
              <a:rPr lang="en-US" sz="2600" dirty="0"/>
              <a:t>) </a:t>
            </a:r>
          </a:p>
        </p:txBody>
      </p:sp>
      <p:sp>
        <p:nvSpPr>
          <p:cNvPr id="5" name="Content Placeholder 2">
            <a:extLst>
              <a:ext uri="{FF2B5EF4-FFF2-40B4-BE49-F238E27FC236}">
                <a16:creationId xmlns:a16="http://schemas.microsoft.com/office/drawing/2014/main" id="{31EDC0E1-63F2-3B63-A4DD-7E60B73D48AB}"/>
              </a:ext>
            </a:extLst>
          </p:cNvPr>
          <p:cNvSpPr txBox="1">
            <a:spLocks/>
          </p:cNvSpPr>
          <p:nvPr/>
        </p:nvSpPr>
        <p:spPr>
          <a:xfrm>
            <a:off x="-29086" y="793206"/>
            <a:ext cx="5483681" cy="57197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sz="1400" b="1" dirty="0"/>
          </a:p>
          <a:p>
            <a:pPr marL="800100" lvl="1" indent="-342900">
              <a:buFont typeface="+mj-lt"/>
              <a:buAutoNum type="alphaLcParenR" startAt="2"/>
            </a:pPr>
            <a:r>
              <a:rPr lang="en-US" sz="1400" b="1" dirty="0"/>
              <a:t>Directorship Listing </a:t>
            </a:r>
          </a:p>
          <a:p>
            <a:pPr lvl="2"/>
            <a:r>
              <a:rPr lang="en-US" sz="1400" dirty="0"/>
              <a:t>If a match hits, click on the match and look under the Entity Name and the Country, and include this match in the DCCS condition (no need to include in the table summary result). </a:t>
            </a:r>
          </a:p>
          <a:p>
            <a:pPr lvl="2"/>
            <a:r>
              <a:rPr lang="en-US" sz="1400" dirty="0"/>
              <a:t>You need to send a notification email to BRL (copy CRL) for a directorship match and include the following information (Entity Name, Name of Committee, Position/Role, Type of Organization and Term. </a:t>
            </a:r>
          </a:p>
          <a:p>
            <a:pPr marL="457200" lvl="1" indent="0">
              <a:buFont typeface="Arial" panose="020B0604020202020204" pitchFamily="34" charset="0"/>
              <a:buNone/>
            </a:pPr>
            <a:endParaRPr lang="en-US" sz="1400" b="1" dirty="0"/>
          </a:p>
          <a:p>
            <a:pPr marL="800100" lvl="1" indent="-342900">
              <a:buFont typeface="+mj-lt"/>
              <a:buAutoNum type="alphaLcParenR" startAt="3"/>
            </a:pPr>
            <a:r>
              <a:rPr lang="en-US" sz="1400" b="1" dirty="0"/>
              <a:t>Sanction Match </a:t>
            </a:r>
          </a:p>
          <a:p>
            <a:pPr lvl="2"/>
            <a:r>
              <a:rPr lang="en-US" sz="1400" dirty="0"/>
              <a:t>If a match hits, click on the match and look under Entity Name. </a:t>
            </a:r>
          </a:p>
          <a:p>
            <a:pPr lvl="2"/>
            <a:r>
              <a:rPr lang="en-US" sz="1400" dirty="0"/>
              <a:t>Analysts need to inform ET to perform KYC check prior sending CB request to other member firm via DCCS system (if any) or prior issuing the final result via DCCS system. </a:t>
            </a:r>
          </a:p>
          <a:p>
            <a:pPr marL="457200" lvl="1" indent="0">
              <a:buFont typeface="Arial" panose="020B0604020202020204" pitchFamily="34" charset="0"/>
              <a:buNone/>
            </a:pPr>
            <a:endParaRPr lang="en-US" sz="1400" b="1" dirty="0"/>
          </a:p>
          <a:p>
            <a:pPr marL="914400" lvl="1" indent="-457200">
              <a:buFont typeface="+mj-lt"/>
              <a:buAutoNum type="alphaLcParenR" startAt="4"/>
            </a:pPr>
            <a:r>
              <a:rPr lang="en-US" sz="1400" b="1" dirty="0"/>
              <a:t>Open Opportunities Listing</a:t>
            </a:r>
          </a:p>
          <a:p>
            <a:pPr lvl="2"/>
            <a:r>
              <a:rPr lang="en-US" sz="1400" dirty="0"/>
              <a:t>If a match hits, click on the match and look under Entity Name, Client Service Level 1, Country and Opportunity Leader, and include this match as “Pursuing” in the table summary result.</a:t>
            </a:r>
          </a:p>
          <a:p>
            <a:pPr marL="457200" lvl="1" indent="0">
              <a:buFont typeface="Arial" panose="020B0604020202020204" pitchFamily="34" charset="0"/>
              <a:buNone/>
            </a:pPr>
            <a:endParaRPr lang="en-US" sz="1400" b="1" dirty="0"/>
          </a:p>
          <a:p>
            <a:pPr marL="0" indent="0">
              <a:buFont typeface="Arial" panose="020B0604020202020204" pitchFamily="34" charset="0"/>
              <a:buNone/>
            </a:pPr>
            <a:r>
              <a:rPr lang="en-US" sz="1400" b="1" dirty="0"/>
              <a:t> </a:t>
            </a:r>
            <a:endParaRPr lang="en-US" sz="1400" dirty="0"/>
          </a:p>
        </p:txBody>
      </p:sp>
      <p:grpSp>
        <p:nvGrpSpPr>
          <p:cNvPr id="11" name="Group 10">
            <a:extLst>
              <a:ext uri="{FF2B5EF4-FFF2-40B4-BE49-F238E27FC236}">
                <a16:creationId xmlns:a16="http://schemas.microsoft.com/office/drawing/2014/main" id="{ABC1E331-6B96-717F-55CA-83BC263F6987}"/>
              </a:ext>
            </a:extLst>
          </p:cNvPr>
          <p:cNvGrpSpPr/>
          <p:nvPr/>
        </p:nvGrpSpPr>
        <p:grpSpPr>
          <a:xfrm>
            <a:off x="5930945" y="1028797"/>
            <a:ext cx="3602734" cy="1667419"/>
            <a:chOff x="5779077" y="1464810"/>
            <a:chExt cx="3602734" cy="1667419"/>
          </a:xfrm>
        </p:grpSpPr>
        <p:pic>
          <p:nvPicPr>
            <p:cNvPr id="7" name="Picture 6">
              <a:extLst>
                <a:ext uri="{FF2B5EF4-FFF2-40B4-BE49-F238E27FC236}">
                  <a16:creationId xmlns:a16="http://schemas.microsoft.com/office/drawing/2014/main" id="{0BCE60CA-E7E9-4728-9B2A-BFD5F0FE1000}"/>
                </a:ext>
              </a:extLst>
            </p:cNvPr>
            <p:cNvPicPr>
              <a:picLocks noChangeAspect="1"/>
            </p:cNvPicPr>
            <p:nvPr/>
          </p:nvPicPr>
          <p:blipFill>
            <a:blip r:embed="rId2"/>
            <a:stretch>
              <a:fillRect/>
            </a:stretch>
          </p:blipFill>
          <p:spPr>
            <a:xfrm>
              <a:off x="5779077" y="1464810"/>
              <a:ext cx="3602734" cy="1667419"/>
            </a:xfrm>
            <a:prstGeom prst="rect">
              <a:avLst/>
            </a:prstGeom>
          </p:spPr>
        </p:pic>
        <p:sp>
          <p:nvSpPr>
            <p:cNvPr id="10" name="Rectangle 9">
              <a:extLst>
                <a:ext uri="{FF2B5EF4-FFF2-40B4-BE49-F238E27FC236}">
                  <a16:creationId xmlns:a16="http://schemas.microsoft.com/office/drawing/2014/main" id="{BD9F1800-5F0C-88FC-4C47-3005FD66788E}"/>
                </a:ext>
              </a:extLst>
            </p:cNvPr>
            <p:cNvSpPr/>
            <p:nvPr/>
          </p:nvSpPr>
          <p:spPr>
            <a:xfrm>
              <a:off x="6812280" y="2670048"/>
              <a:ext cx="722376" cy="10972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2F33A409-0F51-EA81-EF20-D8FF5782748B}"/>
              </a:ext>
            </a:extLst>
          </p:cNvPr>
          <p:cNvGrpSpPr/>
          <p:nvPr/>
        </p:nvGrpSpPr>
        <p:grpSpPr>
          <a:xfrm>
            <a:off x="9644270" y="858741"/>
            <a:ext cx="2107758" cy="2250219"/>
            <a:chOff x="9564757" y="946204"/>
            <a:chExt cx="2056728" cy="2704633"/>
          </a:xfrm>
        </p:grpSpPr>
        <p:pic>
          <p:nvPicPr>
            <p:cNvPr id="9" name="Picture 8">
              <a:extLst>
                <a:ext uri="{FF2B5EF4-FFF2-40B4-BE49-F238E27FC236}">
                  <a16:creationId xmlns:a16="http://schemas.microsoft.com/office/drawing/2014/main" id="{85A79A9F-BAB6-B8C5-5697-B59B0094AB1B}"/>
                </a:ext>
              </a:extLst>
            </p:cNvPr>
            <p:cNvPicPr>
              <a:picLocks noChangeAspect="1"/>
            </p:cNvPicPr>
            <p:nvPr/>
          </p:nvPicPr>
          <p:blipFill>
            <a:blip r:embed="rId3"/>
            <a:stretch>
              <a:fillRect/>
            </a:stretch>
          </p:blipFill>
          <p:spPr>
            <a:xfrm>
              <a:off x="9564758" y="946204"/>
              <a:ext cx="2056727" cy="2704633"/>
            </a:xfrm>
            <a:prstGeom prst="rect">
              <a:avLst/>
            </a:prstGeom>
            <a:ln>
              <a:solidFill>
                <a:schemeClr val="tx1"/>
              </a:solidFill>
            </a:ln>
          </p:spPr>
        </p:pic>
        <p:sp>
          <p:nvSpPr>
            <p:cNvPr id="12" name="Rectangle 11">
              <a:extLst>
                <a:ext uri="{FF2B5EF4-FFF2-40B4-BE49-F238E27FC236}">
                  <a16:creationId xmlns:a16="http://schemas.microsoft.com/office/drawing/2014/main" id="{77AE1BBE-5612-513F-ED11-352B80B8E333}"/>
                </a:ext>
              </a:extLst>
            </p:cNvPr>
            <p:cNvSpPr/>
            <p:nvPr/>
          </p:nvSpPr>
          <p:spPr>
            <a:xfrm>
              <a:off x="9564759" y="1257300"/>
              <a:ext cx="817491" cy="1948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B74B7A7-C860-F842-DC3D-403E57EEE0D1}"/>
                </a:ext>
              </a:extLst>
            </p:cNvPr>
            <p:cNvSpPr/>
            <p:nvPr/>
          </p:nvSpPr>
          <p:spPr>
            <a:xfrm>
              <a:off x="9564759" y="1498600"/>
              <a:ext cx="817491" cy="1948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5056AA-CB3F-3550-FB79-E589B2E64F89}"/>
                </a:ext>
              </a:extLst>
            </p:cNvPr>
            <p:cNvSpPr/>
            <p:nvPr/>
          </p:nvSpPr>
          <p:spPr>
            <a:xfrm>
              <a:off x="9564759" y="1758950"/>
              <a:ext cx="817491" cy="1948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2696DD4-CBB7-B9B9-6967-E219481DA707}"/>
                </a:ext>
              </a:extLst>
            </p:cNvPr>
            <p:cNvSpPr/>
            <p:nvPr/>
          </p:nvSpPr>
          <p:spPr>
            <a:xfrm>
              <a:off x="9564758" y="2610663"/>
              <a:ext cx="1477892" cy="1948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CA0BDDD-C8F8-1907-8B0D-B763EFCEF2D1}"/>
                </a:ext>
              </a:extLst>
            </p:cNvPr>
            <p:cNvSpPr/>
            <p:nvPr/>
          </p:nvSpPr>
          <p:spPr>
            <a:xfrm>
              <a:off x="9564759" y="2885753"/>
              <a:ext cx="817491" cy="1948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2015D2F-9B38-C993-7285-47D20DB2E735}"/>
                </a:ext>
              </a:extLst>
            </p:cNvPr>
            <p:cNvSpPr/>
            <p:nvPr/>
          </p:nvSpPr>
          <p:spPr>
            <a:xfrm>
              <a:off x="9564759" y="3170890"/>
              <a:ext cx="817491" cy="1948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6E19A15-0553-A5AD-2429-68904EF914C3}"/>
                </a:ext>
              </a:extLst>
            </p:cNvPr>
            <p:cNvSpPr/>
            <p:nvPr/>
          </p:nvSpPr>
          <p:spPr>
            <a:xfrm>
              <a:off x="9564757" y="3449676"/>
              <a:ext cx="817491" cy="1948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 name="Group 25">
            <a:extLst>
              <a:ext uri="{FF2B5EF4-FFF2-40B4-BE49-F238E27FC236}">
                <a16:creationId xmlns:a16="http://schemas.microsoft.com/office/drawing/2014/main" id="{AF37370C-BD6F-0891-3153-F5A34443C5DC}"/>
              </a:ext>
            </a:extLst>
          </p:cNvPr>
          <p:cNvGrpSpPr/>
          <p:nvPr/>
        </p:nvGrpSpPr>
        <p:grpSpPr>
          <a:xfrm>
            <a:off x="9000840" y="3208785"/>
            <a:ext cx="2946821" cy="1236889"/>
            <a:chOff x="8947413" y="3680375"/>
            <a:chExt cx="2946821" cy="1236889"/>
          </a:xfrm>
        </p:grpSpPr>
        <p:pic>
          <p:nvPicPr>
            <p:cNvPr id="24" name="Picture 23">
              <a:extLst>
                <a:ext uri="{FF2B5EF4-FFF2-40B4-BE49-F238E27FC236}">
                  <a16:creationId xmlns:a16="http://schemas.microsoft.com/office/drawing/2014/main" id="{48EADB21-93ED-6708-1A18-A127A685E839}"/>
                </a:ext>
              </a:extLst>
            </p:cNvPr>
            <p:cNvPicPr>
              <a:picLocks noChangeAspect="1"/>
            </p:cNvPicPr>
            <p:nvPr/>
          </p:nvPicPr>
          <p:blipFill>
            <a:blip r:embed="rId4"/>
            <a:stretch>
              <a:fillRect/>
            </a:stretch>
          </p:blipFill>
          <p:spPr>
            <a:xfrm>
              <a:off x="8947413" y="3680375"/>
              <a:ext cx="2946821" cy="1236889"/>
            </a:xfrm>
            <a:prstGeom prst="rect">
              <a:avLst/>
            </a:prstGeom>
            <a:ln>
              <a:solidFill>
                <a:schemeClr val="tx1"/>
              </a:solidFill>
            </a:ln>
          </p:spPr>
        </p:pic>
        <p:sp>
          <p:nvSpPr>
            <p:cNvPr id="25" name="Rectangle 24">
              <a:extLst>
                <a:ext uri="{FF2B5EF4-FFF2-40B4-BE49-F238E27FC236}">
                  <a16:creationId xmlns:a16="http://schemas.microsoft.com/office/drawing/2014/main" id="{20809616-B4BF-11D4-A570-8244FBEB3982}"/>
                </a:ext>
              </a:extLst>
            </p:cNvPr>
            <p:cNvSpPr/>
            <p:nvPr/>
          </p:nvSpPr>
          <p:spPr>
            <a:xfrm>
              <a:off x="8969071" y="4198289"/>
              <a:ext cx="1264258" cy="3578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3B919A34-17FE-C9CF-23DA-1B1271669950}"/>
              </a:ext>
            </a:extLst>
          </p:cNvPr>
          <p:cNvGrpSpPr/>
          <p:nvPr/>
        </p:nvGrpSpPr>
        <p:grpSpPr>
          <a:xfrm>
            <a:off x="5821715" y="3206042"/>
            <a:ext cx="3023143" cy="1384527"/>
            <a:chOff x="5821715" y="3206042"/>
            <a:chExt cx="3023143" cy="1384527"/>
          </a:xfrm>
        </p:grpSpPr>
        <p:pic>
          <p:nvPicPr>
            <p:cNvPr id="22" name="Picture 21">
              <a:extLst>
                <a:ext uri="{FF2B5EF4-FFF2-40B4-BE49-F238E27FC236}">
                  <a16:creationId xmlns:a16="http://schemas.microsoft.com/office/drawing/2014/main" id="{04809631-4108-0722-0D41-1D2BD8C2EB9D}"/>
                </a:ext>
              </a:extLst>
            </p:cNvPr>
            <p:cNvPicPr>
              <a:picLocks noChangeAspect="1"/>
            </p:cNvPicPr>
            <p:nvPr/>
          </p:nvPicPr>
          <p:blipFill>
            <a:blip r:embed="rId5"/>
            <a:stretch>
              <a:fillRect/>
            </a:stretch>
          </p:blipFill>
          <p:spPr>
            <a:xfrm>
              <a:off x="5821715" y="3206042"/>
              <a:ext cx="3023143" cy="1384527"/>
            </a:xfrm>
            <a:prstGeom prst="rect">
              <a:avLst/>
            </a:prstGeom>
          </p:spPr>
        </p:pic>
        <p:sp>
          <p:nvSpPr>
            <p:cNvPr id="31" name="Rectangle 30">
              <a:extLst>
                <a:ext uri="{FF2B5EF4-FFF2-40B4-BE49-F238E27FC236}">
                  <a16:creationId xmlns:a16="http://schemas.microsoft.com/office/drawing/2014/main" id="{4B8D695E-2569-AAE9-3F5D-774988B80F23}"/>
                </a:ext>
              </a:extLst>
            </p:cNvPr>
            <p:cNvSpPr/>
            <p:nvPr/>
          </p:nvSpPr>
          <p:spPr>
            <a:xfrm>
              <a:off x="6663194" y="4214191"/>
              <a:ext cx="540689" cy="11131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216DBB8C-F0D6-67CF-CE0E-074E100A6C4C}"/>
              </a:ext>
            </a:extLst>
          </p:cNvPr>
          <p:cNvGrpSpPr/>
          <p:nvPr/>
        </p:nvGrpSpPr>
        <p:grpSpPr>
          <a:xfrm>
            <a:off x="5895190" y="4803989"/>
            <a:ext cx="3023143" cy="1458141"/>
            <a:chOff x="5895190" y="4803989"/>
            <a:chExt cx="3023143" cy="1458141"/>
          </a:xfrm>
        </p:grpSpPr>
        <p:pic>
          <p:nvPicPr>
            <p:cNvPr id="28" name="Picture 27">
              <a:extLst>
                <a:ext uri="{FF2B5EF4-FFF2-40B4-BE49-F238E27FC236}">
                  <a16:creationId xmlns:a16="http://schemas.microsoft.com/office/drawing/2014/main" id="{5A761D92-8180-DF9B-F37B-E0372370E4CD}"/>
                </a:ext>
              </a:extLst>
            </p:cNvPr>
            <p:cNvPicPr>
              <a:picLocks noChangeAspect="1"/>
            </p:cNvPicPr>
            <p:nvPr/>
          </p:nvPicPr>
          <p:blipFill>
            <a:blip r:embed="rId6"/>
            <a:stretch>
              <a:fillRect/>
            </a:stretch>
          </p:blipFill>
          <p:spPr>
            <a:xfrm>
              <a:off x="5895190" y="4803989"/>
              <a:ext cx="3023143" cy="1458141"/>
            </a:xfrm>
            <a:prstGeom prst="rect">
              <a:avLst/>
            </a:prstGeom>
          </p:spPr>
        </p:pic>
        <p:sp>
          <p:nvSpPr>
            <p:cNvPr id="33" name="Rectangle 32">
              <a:extLst>
                <a:ext uri="{FF2B5EF4-FFF2-40B4-BE49-F238E27FC236}">
                  <a16:creationId xmlns:a16="http://schemas.microsoft.com/office/drawing/2014/main" id="{71D7A6CD-3BB2-235F-7598-DC49981466A7}"/>
                </a:ext>
              </a:extLst>
            </p:cNvPr>
            <p:cNvSpPr/>
            <p:nvPr/>
          </p:nvSpPr>
          <p:spPr>
            <a:xfrm>
              <a:off x="6782463" y="5868063"/>
              <a:ext cx="904061" cy="10336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42D16C33-87DA-1FE7-7AE2-963A754FC170}"/>
              </a:ext>
            </a:extLst>
          </p:cNvPr>
          <p:cNvGrpSpPr/>
          <p:nvPr/>
        </p:nvGrpSpPr>
        <p:grpSpPr>
          <a:xfrm>
            <a:off x="9034072" y="4640153"/>
            <a:ext cx="2427380" cy="2064089"/>
            <a:chOff x="9022498" y="4640153"/>
            <a:chExt cx="2427380" cy="2064089"/>
          </a:xfrm>
        </p:grpSpPr>
        <p:pic>
          <p:nvPicPr>
            <p:cNvPr id="30" name="Picture 29">
              <a:extLst>
                <a:ext uri="{FF2B5EF4-FFF2-40B4-BE49-F238E27FC236}">
                  <a16:creationId xmlns:a16="http://schemas.microsoft.com/office/drawing/2014/main" id="{5C7DEEA5-C373-6954-56C8-C2BEA389A7E1}"/>
                </a:ext>
              </a:extLst>
            </p:cNvPr>
            <p:cNvPicPr>
              <a:picLocks noChangeAspect="1"/>
            </p:cNvPicPr>
            <p:nvPr/>
          </p:nvPicPr>
          <p:blipFill>
            <a:blip r:embed="rId7"/>
            <a:stretch>
              <a:fillRect/>
            </a:stretch>
          </p:blipFill>
          <p:spPr>
            <a:xfrm>
              <a:off x="9022498" y="4640153"/>
              <a:ext cx="2427380" cy="2064089"/>
            </a:xfrm>
            <a:prstGeom prst="rect">
              <a:avLst/>
            </a:prstGeom>
            <a:ln>
              <a:solidFill>
                <a:schemeClr val="tx1"/>
              </a:solidFill>
            </a:ln>
          </p:spPr>
        </p:pic>
        <p:sp>
          <p:nvSpPr>
            <p:cNvPr id="35" name="Rectangle 34">
              <a:extLst>
                <a:ext uri="{FF2B5EF4-FFF2-40B4-BE49-F238E27FC236}">
                  <a16:creationId xmlns:a16="http://schemas.microsoft.com/office/drawing/2014/main" id="{D22B0745-5C3F-881C-B7FC-70FBFCA9FCB6}"/>
                </a:ext>
              </a:extLst>
            </p:cNvPr>
            <p:cNvSpPr/>
            <p:nvPr/>
          </p:nvSpPr>
          <p:spPr>
            <a:xfrm>
              <a:off x="9022498" y="4890304"/>
              <a:ext cx="781259" cy="16535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CE55DC2D-8FAB-C9F5-00EF-511D69DBCEB7}"/>
                </a:ext>
              </a:extLst>
            </p:cNvPr>
            <p:cNvSpPr/>
            <p:nvPr/>
          </p:nvSpPr>
          <p:spPr>
            <a:xfrm>
              <a:off x="9039830" y="5660020"/>
              <a:ext cx="781259" cy="16535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A7294831-FE0E-8835-CD42-3E03E16613CA}"/>
                </a:ext>
              </a:extLst>
            </p:cNvPr>
            <p:cNvSpPr/>
            <p:nvPr/>
          </p:nvSpPr>
          <p:spPr>
            <a:xfrm>
              <a:off x="9039830" y="5895490"/>
              <a:ext cx="781259" cy="16535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F2D15F81-B03F-F215-9AD5-E88B1BCEC9F2}"/>
                </a:ext>
              </a:extLst>
            </p:cNvPr>
            <p:cNvSpPr/>
            <p:nvPr/>
          </p:nvSpPr>
          <p:spPr>
            <a:xfrm>
              <a:off x="9039830" y="6538885"/>
              <a:ext cx="781259" cy="16535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23852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C486F09-94F8-3E61-462B-02A0A8C361DB}"/>
              </a:ext>
            </a:extLst>
          </p:cNvPr>
          <p:cNvSpPr>
            <a:spLocks noGrp="1"/>
          </p:cNvSpPr>
          <p:nvPr>
            <p:ph type="title"/>
          </p:nvPr>
        </p:nvSpPr>
        <p:spPr>
          <a:xfrm>
            <a:off x="517451" y="345086"/>
            <a:ext cx="9956800" cy="442537"/>
          </a:xfrm>
        </p:spPr>
        <p:txBody>
          <a:bodyPr>
            <a:noAutofit/>
          </a:bodyPr>
          <a:lstStyle/>
          <a:p>
            <a:r>
              <a:rPr lang="en-US" sz="2600" dirty="0"/>
              <a:t>Perform Search to Conflicts Databases – COT </a:t>
            </a:r>
          </a:p>
        </p:txBody>
      </p:sp>
      <p:sp>
        <p:nvSpPr>
          <p:cNvPr id="5" name="Content Placeholder 2">
            <a:extLst>
              <a:ext uri="{FF2B5EF4-FFF2-40B4-BE49-F238E27FC236}">
                <a16:creationId xmlns:a16="http://schemas.microsoft.com/office/drawing/2014/main" id="{99360F8D-8B41-FAAA-9878-205BC74CF5C7}"/>
              </a:ext>
            </a:extLst>
          </p:cNvPr>
          <p:cNvSpPr txBox="1">
            <a:spLocks/>
          </p:cNvSpPr>
          <p:nvPr/>
        </p:nvSpPr>
        <p:spPr>
          <a:xfrm>
            <a:off x="517451" y="1049238"/>
            <a:ext cx="10578214" cy="57197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Go to COT database: </a:t>
            </a:r>
            <a:r>
              <a:rPr lang="en-US" sz="1400" u="sng" dirty="0">
                <a:hlinkClick r:id="rId2"/>
              </a:rPr>
              <a:t>Client Onboarding Tool</a:t>
            </a:r>
            <a:endParaRPr lang="en-US" sz="1400" dirty="0"/>
          </a:p>
          <a:p>
            <a:r>
              <a:rPr lang="en-US" sz="1400" dirty="0"/>
              <a:t>Search the entities/individuals in COT under the search bar and click “enter” on your laptop. </a:t>
            </a:r>
          </a:p>
          <a:p>
            <a:r>
              <a:rPr lang="en-US" sz="1400" dirty="0"/>
              <a:t>If a match hits for the entity/individual, then you will look at the Client Name, Country, Partner, as well as Submission Time, and include this match in the table summary result.</a:t>
            </a:r>
          </a:p>
          <a:p>
            <a:pPr lvl="1"/>
            <a:r>
              <a:rPr lang="en-US" sz="1400" dirty="0"/>
              <a:t>Only acknowledge the match if Submission Time is from 15 Jul 2025 onwards (no need to acknowledge matches prior 15 July 2025). </a:t>
            </a:r>
          </a:p>
          <a:p>
            <a:pPr lvl="1"/>
            <a:r>
              <a:rPr lang="en-US" sz="1400" dirty="0"/>
              <a:t>All matches identified in COT are Ongoing and from Tax BU (Non-Assurance in nature) </a:t>
            </a:r>
          </a:p>
        </p:txBody>
      </p:sp>
      <p:grpSp>
        <p:nvGrpSpPr>
          <p:cNvPr id="28" name="Group 27">
            <a:extLst>
              <a:ext uri="{FF2B5EF4-FFF2-40B4-BE49-F238E27FC236}">
                <a16:creationId xmlns:a16="http://schemas.microsoft.com/office/drawing/2014/main" id="{28AA4FBD-47B1-FAB4-48FB-BEBDD8103AA6}"/>
              </a:ext>
            </a:extLst>
          </p:cNvPr>
          <p:cNvGrpSpPr/>
          <p:nvPr/>
        </p:nvGrpSpPr>
        <p:grpSpPr>
          <a:xfrm>
            <a:off x="781721" y="2942114"/>
            <a:ext cx="4979973" cy="1916195"/>
            <a:chOff x="781721" y="2942114"/>
            <a:chExt cx="4979973" cy="1916195"/>
          </a:xfrm>
        </p:grpSpPr>
        <p:pic>
          <p:nvPicPr>
            <p:cNvPr id="7" name="Picture 6">
              <a:extLst>
                <a:ext uri="{FF2B5EF4-FFF2-40B4-BE49-F238E27FC236}">
                  <a16:creationId xmlns:a16="http://schemas.microsoft.com/office/drawing/2014/main" id="{BF8923B6-143E-2E53-55A7-69D87414319B}"/>
                </a:ext>
              </a:extLst>
            </p:cNvPr>
            <p:cNvPicPr>
              <a:picLocks noChangeAspect="1"/>
            </p:cNvPicPr>
            <p:nvPr/>
          </p:nvPicPr>
          <p:blipFill>
            <a:blip r:embed="rId3"/>
            <a:stretch>
              <a:fillRect/>
            </a:stretch>
          </p:blipFill>
          <p:spPr>
            <a:xfrm>
              <a:off x="781721" y="2942114"/>
              <a:ext cx="4979973" cy="1916195"/>
            </a:xfrm>
            <a:prstGeom prst="rect">
              <a:avLst/>
            </a:prstGeom>
          </p:spPr>
        </p:pic>
        <p:sp>
          <p:nvSpPr>
            <p:cNvPr id="16" name="Rectangle 15">
              <a:extLst>
                <a:ext uri="{FF2B5EF4-FFF2-40B4-BE49-F238E27FC236}">
                  <a16:creationId xmlns:a16="http://schemas.microsoft.com/office/drawing/2014/main" id="{F3D41F1A-398D-B72D-3768-78DDA529D9A5}"/>
                </a:ext>
              </a:extLst>
            </p:cNvPr>
            <p:cNvSpPr/>
            <p:nvPr/>
          </p:nvSpPr>
          <p:spPr>
            <a:xfrm>
              <a:off x="1446029" y="3650512"/>
              <a:ext cx="630865" cy="18429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818AB3E9-18AA-DCF2-B3FA-2BFBA2A8E2B4}"/>
              </a:ext>
            </a:extLst>
          </p:cNvPr>
          <p:cNvGrpSpPr/>
          <p:nvPr/>
        </p:nvGrpSpPr>
        <p:grpSpPr>
          <a:xfrm>
            <a:off x="7166615" y="2942114"/>
            <a:ext cx="3764516" cy="1975711"/>
            <a:chOff x="7166615" y="2942114"/>
            <a:chExt cx="3764516" cy="1975711"/>
          </a:xfrm>
        </p:grpSpPr>
        <p:pic>
          <p:nvPicPr>
            <p:cNvPr id="11" name="Picture 10">
              <a:extLst>
                <a:ext uri="{FF2B5EF4-FFF2-40B4-BE49-F238E27FC236}">
                  <a16:creationId xmlns:a16="http://schemas.microsoft.com/office/drawing/2014/main" id="{DF7D07A5-47A7-7F67-3A93-705D612BA233}"/>
                </a:ext>
              </a:extLst>
            </p:cNvPr>
            <p:cNvPicPr>
              <a:picLocks noChangeAspect="1"/>
            </p:cNvPicPr>
            <p:nvPr/>
          </p:nvPicPr>
          <p:blipFill>
            <a:blip r:embed="rId4"/>
            <a:stretch>
              <a:fillRect/>
            </a:stretch>
          </p:blipFill>
          <p:spPr>
            <a:xfrm>
              <a:off x="7166615" y="2942114"/>
              <a:ext cx="3764516" cy="1933956"/>
            </a:xfrm>
            <a:prstGeom prst="rect">
              <a:avLst/>
            </a:prstGeom>
          </p:spPr>
        </p:pic>
        <p:sp>
          <p:nvSpPr>
            <p:cNvPr id="17" name="Rectangle 16">
              <a:extLst>
                <a:ext uri="{FF2B5EF4-FFF2-40B4-BE49-F238E27FC236}">
                  <a16:creationId xmlns:a16="http://schemas.microsoft.com/office/drawing/2014/main" id="{DA230985-E18D-E591-99A9-64AC832C370C}"/>
                </a:ext>
              </a:extLst>
            </p:cNvPr>
            <p:cNvSpPr/>
            <p:nvPr/>
          </p:nvSpPr>
          <p:spPr>
            <a:xfrm>
              <a:off x="9930810" y="3069266"/>
              <a:ext cx="522177" cy="184855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79DB6A0B-1138-2D32-FBBC-10AE31275123}"/>
              </a:ext>
            </a:extLst>
          </p:cNvPr>
          <p:cNvGrpSpPr/>
          <p:nvPr/>
        </p:nvGrpSpPr>
        <p:grpSpPr>
          <a:xfrm>
            <a:off x="696843" y="5156770"/>
            <a:ext cx="5064851" cy="1392990"/>
            <a:chOff x="696843" y="5156770"/>
            <a:chExt cx="5064851" cy="1392990"/>
          </a:xfrm>
        </p:grpSpPr>
        <p:pic>
          <p:nvPicPr>
            <p:cNvPr id="13" name="Picture 12">
              <a:extLst>
                <a:ext uri="{FF2B5EF4-FFF2-40B4-BE49-F238E27FC236}">
                  <a16:creationId xmlns:a16="http://schemas.microsoft.com/office/drawing/2014/main" id="{49AEFDC7-8FE5-B2BB-8378-3ED8DE7CEECB}"/>
                </a:ext>
              </a:extLst>
            </p:cNvPr>
            <p:cNvPicPr>
              <a:picLocks noChangeAspect="1"/>
            </p:cNvPicPr>
            <p:nvPr/>
          </p:nvPicPr>
          <p:blipFill>
            <a:blip r:embed="rId5"/>
            <a:stretch>
              <a:fillRect/>
            </a:stretch>
          </p:blipFill>
          <p:spPr>
            <a:xfrm>
              <a:off x="696843" y="5156770"/>
              <a:ext cx="5064851" cy="1392990"/>
            </a:xfrm>
            <a:prstGeom prst="rect">
              <a:avLst/>
            </a:prstGeom>
          </p:spPr>
        </p:pic>
        <p:sp>
          <p:nvSpPr>
            <p:cNvPr id="19" name="Rectangle 18">
              <a:extLst>
                <a:ext uri="{FF2B5EF4-FFF2-40B4-BE49-F238E27FC236}">
                  <a16:creationId xmlns:a16="http://schemas.microsoft.com/office/drawing/2014/main" id="{056894B6-8A85-65C8-F7CA-7B6C6235A78F}"/>
                </a:ext>
              </a:extLst>
            </p:cNvPr>
            <p:cNvSpPr/>
            <p:nvPr/>
          </p:nvSpPr>
          <p:spPr>
            <a:xfrm>
              <a:off x="2750288" y="5323367"/>
              <a:ext cx="793898" cy="118954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06AEE769-4ADF-27DD-D78A-0524035B6231}"/>
              </a:ext>
            </a:extLst>
          </p:cNvPr>
          <p:cNvGrpSpPr/>
          <p:nvPr/>
        </p:nvGrpSpPr>
        <p:grpSpPr>
          <a:xfrm>
            <a:off x="6430308" y="5193616"/>
            <a:ext cx="5497078" cy="1319298"/>
            <a:chOff x="6430308" y="5193616"/>
            <a:chExt cx="5497078" cy="1319298"/>
          </a:xfrm>
        </p:grpSpPr>
        <p:pic>
          <p:nvPicPr>
            <p:cNvPr id="15" name="Picture 14">
              <a:extLst>
                <a:ext uri="{FF2B5EF4-FFF2-40B4-BE49-F238E27FC236}">
                  <a16:creationId xmlns:a16="http://schemas.microsoft.com/office/drawing/2014/main" id="{ACA27ACE-F7C7-D470-C331-DD9FEF670680}"/>
                </a:ext>
              </a:extLst>
            </p:cNvPr>
            <p:cNvPicPr>
              <a:picLocks noChangeAspect="1"/>
            </p:cNvPicPr>
            <p:nvPr/>
          </p:nvPicPr>
          <p:blipFill>
            <a:blip r:embed="rId6"/>
            <a:stretch>
              <a:fillRect/>
            </a:stretch>
          </p:blipFill>
          <p:spPr>
            <a:xfrm>
              <a:off x="6430308" y="5193616"/>
              <a:ext cx="5497078" cy="1319298"/>
            </a:xfrm>
            <a:prstGeom prst="rect">
              <a:avLst/>
            </a:prstGeom>
          </p:spPr>
        </p:pic>
        <p:sp>
          <p:nvSpPr>
            <p:cNvPr id="27" name="Rectangle 26">
              <a:extLst>
                <a:ext uri="{FF2B5EF4-FFF2-40B4-BE49-F238E27FC236}">
                  <a16:creationId xmlns:a16="http://schemas.microsoft.com/office/drawing/2014/main" id="{060A5A43-27FE-1EA8-F180-C693942A578B}"/>
                </a:ext>
              </a:extLst>
            </p:cNvPr>
            <p:cNvSpPr/>
            <p:nvPr/>
          </p:nvSpPr>
          <p:spPr>
            <a:xfrm>
              <a:off x="8647814" y="5213988"/>
              <a:ext cx="793898" cy="118954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52360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4BCBE02-D920-F202-DD99-3D0F805FD5BD}"/>
              </a:ext>
            </a:extLst>
          </p:cNvPr>
          <p:cNvSpPr>
            <a:spLocks noGrp="1"/>
          </p:cNvSpPr>
          <p:nvPr>
            <p:ph type="title"/>
          </p:nvPr>
        </p:nvSpPr>
        <p:spPr>
          <a:xfrm>
            <a:off x="517451" y="345086"/>
            <a:ext cx="9956800" cy="442537"/>
          </a:xfrm>
        </p:spPr>
        <p:txBody>
          <a:bodyPr>
            <a:noAutofit/>
          </a:bodyPr>
          <a:lstStyle/>
          <a:p>
            <a:r>
              <a:rPr lang="en-US" sz="2600" dirty="0"/>
              <a:t>Perform Search to Conflicts Databases – DCCS Search Result</a:t>
            </a:r>
          </a:p>
        </p:txBody>
      </p:sp>
      <p:sp>
        <p:nvSpPr>
          <p:cNvPr id="5" name="Content Placeholder 2">
            <a:extLst>
              <a:ext uri="{FF2B5EF4-FFF2-40B4-BE49-F238E27FC236}">
                <a16:creationId xmlns:a16="http://schemas.microsoft.com/office/drawing/2014/main" id="{7D412DD7-876B-F825-C7A1-68C10EA316A1}"/>
              </a:ext>
            </a:extLst>
          </p:cNvPr>
          <p:cNvSpPr txBox="1">
            <a:spLocks/>
          </p:cNvSpPr>
          <p:nvPr/>
        </p:nvSpPr>
        <p:spPr>
          <a:xfrm>
            <a:off x="517450" y="948654"/>
            <a:ext cx="11397181" cy="22227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Go to DCCS Search Result feature in DCCS Request. </a:t>
            </a:r>
          </a:p>
          <a:p>
            <a:r>
              <a:rPr lang="en-US" sz="1400" dirty="0"/>
              <a:t>If there is an Exact Match hits (or referring to the same entity name included in DCCS request), check whether the identified matches are relevant matches. </a:t>
            </a:r>
            <a:r>
              <a:rPr lang="en-US" sz="1400" i="1" dirty="0"/>
              <a:t>You may also click on the DCCS Request ID to see detail of the identified match in the request. </a:t>
            </a:r>
          </a:p>
          <a:p>
            <a:pPr marL="800100" lvl="1" indent="-342900">
              <a:buFont typeface="+mj-lt"/>
              <a:buAutoNum type="alphaLcParenR"/>
            </a:pPr>
            <a:r>
              <a:rPr lang="en-US" sz="1400" dirty="0"/>
              <a:t>What is the entity role in the identified matches? (check the table from [insert link for approval from approval matrix] for Matches consideration)</a:t>
            </a:r>
          </a:p>
          <a:p>
            <a:pPr marL="800100" lvl="1" indent="-342900">
              <a:buFont typeface="+mj-lt"/>
              <a:buAutoNum type="alphaLcParenR"/>
            </a:pPr>
            <a:r>
              <a:rPr lang="en-US" sz="1400" dirty="0"/>
              <a:t>When is the submission date of the identified DCCS Request from DCCS search result match? For prior 2 years submission date, no need to include the match. </a:t>
            </a:r>
          </a:p>
          <a:p>
            <a:pPr marL="800100" lvl="1" indent="-342900">
              <a:buFont typeface="+mj-lt"/>
              <a:buAutoNum type="alphaLcParenR"/>
            </a:pPr>
            <a:r>
              <a:rPr lang="en-US" sz="1400" dirty="0"/>
              <a:t>What is the Status of the match? If it’s indicated as “Engagement Complete” or “Opportunity Lost”, no need to include the match. </a:t>
            </a:r>
          </a:p>
          <a:p>
            <a:pPr marL="800100" lvl="1" indent="-342900">
              <a:buFont typeface="+mj-lt"/>
              <a:buAutoNum type="alphaLcParenR"/>
            </a:pPr>
            <a:r>
              <a:rPr lang="en-US" sz="1400" dirty="0"/>
              <a:t>Has this DCCS search result match already included in WBS/One Window? have already been included in WBS/One Window? If yes, no need to include the match again. </a:t>
            </a:r>
          </a:p>
          <a:p>
            <a:r>
              <a:rPr lang="en-US" sz="1400" dirty="0"/>
              <a:t>If point a) – d) has been considered as a relevant match, please include the match in DCCS result as “Pursuing”. Please check the Service Offering and/or Engagement Details of the identified matches to indicate the match as “Non-Assurance”, “Audit”, or “Assurance”.</a:t>
            </a:r>
          </a:p>
          <a:p>
            <a:r>
              <a:rPr lang="en-US" sz="1400" dirty="0"/>
              <a:t>Then, select all the matches in DCCS Search Result (those matches with no action required/no potential conflicts), and click “No Conflicts”.  </a:t>
            </a:r>
          </a:p>
          <a:p>
            <a:pPr marL="0" indent="0">
              <a:buNone/>
            </a:pPr>
            <a:endParaRPr lang="en-US" sz="1400" dirty="0"/>
          </a:p>
        </p:txBody>
      </p:sp>
      <p:grpSp>
        <p:nvGrpSpPr>
          <p:cNvPr id="14" name="Group 13">
            <a:extLst>
              <a:ext uri="{FF2B5EF4-FFF2-40B4-BE49-F238E27FC236}">
                <a16:creationId xmlns:a16="http://schemas.microsoft.com/office/drawing/2014/main" id="{B967D24E-731C-22D7-2D8C-8F29C79405E7}"/>
              </a:ext>
            </a:extLst>
          </p:cNvPr>
          <p:cNvGrpSpPr/>
          <p:nvPr/>
        </p:nvGrpSpPr>
        <p:grpSpPr>
          <a:xfrm>
            <a:off x="188267" y="4347324"/>
            <a:ext cx="6111949" cy="2318652"/>
            <a:chOff x="1814657" y="3686569"/>
            <a:chExt cx="7740823" cy="2966875"/>
          </a:xfrm>
        </p:grpSpPr>
        <p:pic>
          <p:nvPicPr>
            <p:cNvPr id="7" name="Picture 6">
              <a:extLst>
                <a:ext uri="{FF2B5EF4-FFF2-40B4-BE49-F238E27FC236}">
                  <a16:creationId xmlns:a16="http://schemas.microsoft.com/office/drawing/2014/main" id="{89694D75-8751-AA60-3A2D-1EC0221EE14B}"/>
                </a:ext>
              </a:extLst>
            </p:cNvPr>
            <p:cNvPicPr>
              <a:picLocks noChangeAspect="1"/>
            </p:cNvPicPr>
            <p:nvPr/>
          </p:nvPicPr>
          <p:blipFill>
            <a:blip r:embed="rId3"/>
            <a:stretch>
              <a:fillRect/>
            </a:stretch>
          </p:blipFill>
          <p:spPr>
            <a:xfrm>
              <a:off x="1814657" y="3686569"/>
              <a:ext cx="7740823" cy="2901901"/>
            </a:xfrm>
            <a:prstGeom prst="rect">
              <a:avLst/>
            </a:prstGeom>
          </p:spPr>
        </p:pic>
        <p:sp>
          <p:nvSpPr>
            <p:cNvPr id="8" name="Rectangle 7">
              <a:extLst>
                <a:ext uri="{FF2B5EF4-FFF2-40B4-BE49-F238E27FC236}">
                  <a16:creationId xmlns:a16="http://schemas.microsoft.com/office/drawing/2014/main" id="{F88D729B-F3B8-7008-5377-50B7A8E999CF}"/>
                </a:ext>
              </a:extLst>
            </p:cNvPr>
            <p:cNvSpPr/>
            <p:nvPr/>
          </p:nvSpPr>
          <p:spPr>
            <a:xfrm>
              <a:off x="3694176" y="4473820"/>
              <a:ext cx="795528" cy="21762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4CA7FF5-92B9-400B-F06B-115DF7FE7565}"/>
                </a:ext>
              </a:extLst>
            </p:cNvPr>
            <p:cNvSpPr/>
            <p:nvPr/>
          </p:nvSpPr>
          <p:spPr>
            <a:xfrm>
              <a:off x="4526279" y="4470450"/>
              <a:ext cx="795528" cy="21762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9D37217-9C05-80C4-0076-D9695F015B49}"/>
                </a:ext>
              </a:extLst>
            </p:cNvPr>
            <p:cNvSpPr/>
            <p:nvPr/>
          </p:nvSpPr>
          <p:spPr>
            <a:xfrm>
              <a:off x="5358382" y="4470450"/>
              <a:ext cx="737618" cy="21762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2D5216E-550D-8599-A523-69FAD0DEA5BA}"/>
                </a:ext>
              </a:extLst>
            </p:cNvPr>
            <p:cNvSpPr/>
            <p:nvPr/>
          </p:nvSpPr>
          <p:spPr>
            <a:xfrm>
              <a:off x="6132573" y="4463710"/>
              <a:ext cx="486441" cy="21829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209DF77-C50B-6C17-3496-9EAA8FC4240A}"/>
                </a:ext>
              </a:extLst>
            </p:cNvPr>
            <p:cNvSpPr/>
            <p:nvPr/>
          </p:nvSpPr>
          <p:spPr>
            <a:xfrm>
              <a:off x="6672689" y="4461306"/>
              <a:ext cx="486441" cy="21829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C038B9-0E69-1220-C973-7936A45B0A6C}"/>
                </a:ext>
              </a:extLst>
            </p:cNvPr>
            <p:cNvSpPr/>
            <p:nvPr/>
          </p:nvSpPr>
          <p:spPr>
            <a:xfrm>
              <a:off x="8419139" y="4470450"/>
              <a:ext cx="596845" cy="21829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9746EF03-3287-93A4-31F0-05033C615562}"/>
              </a:ext>
            </a:extLst>
          </p:cNvPr>
          <p:cNvGrpSpPr/>
          <p:nvPr/>
        </p:nvGrpSpPr>
        <p:grpSpPr>
          <a:xfrm>
            <a:off x="6536213" y="4369872"/>
            <a:ext cx="5338978" cy="2222777"/>
            <a:chOff x="6536213" y="4369872"/>
            <a:chExt cx="5338978" cy="2222777"/>
          </a:xfrm>
        </p:grpSpPr>
        <p:pic>
          <p:nvPicPr>
            <p:cNvPr id="16" name="Picture 15">
              <a:extLst>
                <a:ext uri="{FF2B5EF4-FFF2-40B4-BE49-F238E27FC236}">
                  <a16:creationId xmlns:a16="http://schemas.microsoft.com/office/drawing/2014/main" id="{57EE11F6-A456-F9A4-BD32-5DB1F2422A29}"/>
                </a:ext>
              </a:extLst>
            </p:cNvPr>
            <p:cNvPicPr>
              <a:picLocks noChangeAspect="1"/>
            </p:cNvPicPr>
            <p:nvPr/>
          </p:nvPicPr>
          <p:blipFill>
            <a:blip r:embed="rId4"/>
            <a:stretch>
              <a:fillRect/>
            </a:stretch>
          </p:blipFill>
          <p:spPr>
            <a:xfrm>
              <a:off x="6536213" y="4369872"/>
              <a:ext cx="5338978" cy="2222777"/>
            </a:xfrm>
            <a:prstGeom prst="rect">
              <a:avLst/>
            </a:prstGeom>
          </p:spPr>
        </p:pic>
        <p:sp>
          <p:nvSpPr>
            <p:cNvPr id="17" name="Rectangle 16">
              <a:extLst>
                <a:ext uri="{FF2B5EF4-FFF2-40B4-BE49-F238E27FC236}">
                  <a16:creationId xmlns:a16="http://schemas.microsoft.com/office/drawing/2014/main" id="{18C63770-7A9A-B933-37CF-C04B2FE84BD1}"/>
                </a:ext>
              </a:extLst>
            </p:cNvPr>
            <p:cNvSpPr/>
            <p:nvPr/>
          </p:nvSpPr>
          <p:spPr>
            <a:xfrm>
              <a:off x="11612880" y="4809743"/>
              <a:ext cx="228599" cy="178290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E27A36B-E817-10CA-3A03-952C426BABAE}"/>
                </a:ext>
              </a:extLst>
            </p:cNvPr>
            <p:cNvSpPr/>
            <p:nvPr/>
          </p:nvSpPr>
          <p:spPr>
            <a:xfrm>
              <a:off x="10808208" y="4572000"/>
              <a:ext cx="1066983" cy="23774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16939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4DB8536-DA7B-0FAF-E6A7-3832CA6D310E}"/>
              </a:ext>
            </a:extLst>
          </p:cNvPr>
          <p:cNvSpPr>
            <a:spLocks noGrp="1"/>
          </p:cNvSpPr>
          <p:nvPr>
            <p:ph type="title"/>
          </p:nvPr>
        </p:nvSpPr>
        <p:spPr>
          <a:xfrm>
            <a:off x="517451" y="345086"/>
            <a:ext cx="9956800" cy="442537"/>
          </a:xfrm>
        </p:spPr>
        <p:txBody>
          <a:bodyPr>
            <a:noAutofit/>
          </a:bodyPr>
          <a:lstStyle/>
          <a:p>
            <a:r>
              <a:rPr lang="en-US" sz="2600" dirty="0"/>
              <a:t>Perform Cross-Border Conflict Check Request to other Member Firms </a:t>
            </a:r>
          </a:p>
        </p:txBody>
      </p:sp>
      <p:sp>
        <p:nvSpPr>
          <p:cNvPr id="5" name="Content Placeholder 2">
            <a:extLst>
              <a:ext uri="{FF2B5EF4-FFF2-40B4-BE49-F238E27FC236}">
                <a16:creationId xmlns:a16="http://schemas.microsoft.com/office/drawing/2014/main" id="{8A95AE1B-A2EF-AFC7-2919-0EB7B9F427B1}"/>
              </a:ext>
            </a:extLst>
          </p:cNvPr>
          <p:cNvSpPr txBox="1">
            <a:spLocks/>
          </p:cNvSpPr>
          <p:nvPr/>
        </p:nvSpPr>
        <p:spPr>
          <a:xfrm>
            <a:off x="517450" y="948654"/>
            <a:ext cx="11397181" cy="5845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lphaUcPeriod"/>
            </a:pPr>
            <a:r>
              <a:rPr lang="en-US" sz="1400" dirty="0"/>
              <a:t>Check if Cross-Border check is required to be sent to other Member Firms based on the below criteria </a:t>
            </a:r>
          </a:p>
          <a:p>
            <a:pPr marL="0" indent="0">
              <a:buNone/>
            </a:pPr>
            <a:endParaRPr lang="en-US" sz="1400" dirty="0"/>
          </a:p>
          <a:p>
            <a:pPr marL="0" indent="0">
              <a:buNone/>
            </a:pPr>
            <a:endParaRPr lang="en-US" sz="1400" dirty="0"/>
          </a:p>
        </p:txBody>
      </p:sp>
      <p:graphicFrame>
        <p:nvGraphicFramePr>
          <p:cNvPr id="6" name="Table 5">
            <a:extLst>
              <a:ext uri="{FF2B5EF4-FFF2-40B4-BE49-F238E27FC236}">
                <a16:creationId xmlns:a16="http://schemas.microsoft.com/office/drawing/2014/main" id="{80FD3044-7380-336C-A0BE-4397220A15D7}"/>
              </a:ext>
            </a:extLst>
          </p:cNvPr>
          <p:cNvGraphicFramePr>
            <a:graphicFrameLocks noGrp="1"/>
          </p:cNvGraphicFramePr>
          <p:nvPr>
            <p:extLst>
              <p:ext uri="{D42A27DB-BD31-4B8C-83A1-F6EECF244321}">
                <p14:modId xmlns:p14="http://schemas.microsoft.com/office/powerpoint/2010/main" val="900192911"/>
              </p:ext>
            </p:extLst>
          </p:nvPr>
        </p:nvGraphicFramePr>
        <p:xfrm>
          <a:off x="1125769" y="1318115"/>
          <a:ext cx="10349950" cy="4929144"/>
        </p:xfrm>
        <a:graphic>
          <a:graphicData uri="http://schemas.openxmlformats.org/drawingml/2006/table">
            <a:tbl>
              <a:tblPr firstRow="1" firstCol="1" bandRow="1">
                <a:tableStyleId>{10A1B5D5-9B99-4C35-A422-299274C87663}</a:tableStyleId>
              </a:tblPr>
              <a:tblGrid>
                <a:gridCol w="1226926">
                  <a:extLst>
                    <a:ext uri="{9D8B030D-6E8A-4147-A177-3AD203B41FA5}">
                      <a16:colId xmlns:a16="http://schemas.microsoft.com/office/drawing/2014/main" val="20000"/>
                    </a:ext>
                  </a:extLst>
                </a:gridCol>
                <a:gridCol w="1665119">
                  <a:extLst>
                    <a:ext uri="{9D8B030D-6E8A-4147-A177-3AD203B41FA5}">
                      <a16:colId xmlns:a16="http://schemas.microsoft.com/office/drawing/2014/main" val="20001"/>
                    </a:ext>
                  </a:extLst>
                </a:gridCol>
                <a:gridCol w="1577479">
                  <a:extLst>
                    <a:ext uri="{9D8B030D-6E8A-4147-A177-3AD203B41FA5}">
                      <a16:colId xmlns:a16="http://schemas.microsoft.com/office/drawing/2014/main" val="20002"/>
                    </a:ext>
                  </a:extLst>
                </a:gridCol>
                <a:gridCol w="2453858">
                  <a:extLst>
                    <a:ext uri="{9D8B030D-6E8A-4147-A177-3AD203B41FA5}">
                      <a16:colId xmlns:a16="http://schemas.microsoft.com/office/drawing/2014/main" val="20003"/>
                    </a:ext>
                  </a:extLst>
                </a:gridCol>
                <a:gridCol w="1402203">
                  <a:extLst>
                    <a:ext uri="{9D8B030D-6E8A-4147-A177-3AD203B41FA5}">
                      <a16:colId xmlns:a16="http://schemas.microsoft.com/office/drawing/2014/main" val="20004"/>
                    </a:ext>
                  </a:extLst>
                </a:gridCol>
                <a:gridCol w="2024365">
                  <a:extLst>
                    <a:ext uri="{9D8B030D-6E8A-4147-A177-3AD203B41FA5}">
                      <a16:colId xmlns:a16="http://schemas.microsoft.com/office/drawing/2014/main" val="20005"/>
                    </a:ext>
                  </a:extLst>
                </a:gridCol>
              </a:tblGrid>
              <a:tr h="256685">
                <a:tc gridSpan="2">
                  <a:txBody>
                    <a:bodyPr/>
                    <a:lstStyle/>
                    <a:p>
                      <a:pPr marL="0" marR="0" algn="ctr">
                        <a:lnSpc>
                          <a:spcPct val="107000"/>
                        </a:lnSpc>
                        <a:spcBef>
                          <a:spcPts val="0"/>
                        </a:spcBef>
                        <a:spcAft>
                          <a:spcPts val="1200"/>
                        </a:spcAft>
                      </a:pPr>
                      <a:r>
                        <a:rPr lang="en-US" sz="1400" dirty="0">
                          <a:effectLst/>
                        </a:rPr>
                        <a:t>SCENARIO</a:t>
                      </a:r>
                      <a:endParaRPr lang="en-US" sz="1400" b="0" dirty="0">
                        <a:effectLst/>
                        <a:latin typeface="+mj-lt"/>
                        <a:ea typeface="Calibri" panose="020F0502020204030204" pitchFamily="34"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xBody>
                    <a:bodyPr/>
                    <a:lstStyle/>
                    <a:p>
                      <a:endParaRPr lang="en-US"/>
                    </a:p>
                  </a:txBody>
                  <a:tcPr/>
                </a:tc>
                <a:tc gridSpan="4">
                  <a:txBody>
                    <a:bodyPr/>
                    <a:lstStyle/>
                    <a:p>
                      <a:pPr marL="0" marR="0" algn="ctr">
                        <a:lnSpc>
                          <a:spcPct val="107000"/>
                        </a:lnSpc>
                        <a:spcBef>
                          <a:spcPts val="0"/>
                        </a:spcBef>
                        <a:spcAft>
                          <a:spcPts val="1200"/>
                        </a:spcAft>
                      </a:pPr>
                      <a:r>
                        <a:rPr lang="en-US" sz="1400" dirty="0">
                          <a:effectLst/>
                        </a:rPr>
                        <a:t>ACTION REQUIRED</a:t>
                      </a:r>
                      <a:endParaRPr lang="en-US" sz="1400" b="0" dirty="0">
                        <a:effectLst/>
                        <a:latin typeface="+mj-lt"/>
                        <a:ea typeface="Calibri" panose="020F0502020204030204" pitchFamily="34"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02209">
                <a:tc>
                  <a:txBody>
                    <a:bodyPr/>
                    <a:lstStyle/>
                    <a:p>
                      <a:pPr algn="ctr">
                        <a:spcAft>
                          <a:spcPts val="1200"/>
                        </a:spcAft>
                      </a:pPr>
                      <a:r>
                        <a:rPr lang="en-US" sz="1050" dirty="0">
                          <a:solidFill>
                            <a:schemeClr val="bg1"/>
                          </a:solidFill>
                          <a:effectLst/>
                        </a:rPr>
                        <a:t>Foreign Client</a:t>
                      </a:r>
                      <a:endParaRPr lang="en-US" sz="1050" b="0" dirty="0">
                        <a:solidFill>
                          <a:schemeClr val="bg1"/>
                        </a:solidFill>
                        <a:effectLst/>
                        <a:latin typeface="+mj-lt"/>
                        <a:ea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spcAft>
                          <a:spcPts val="1200"/>
                        </a:spcAft>
                      </a:pPr>
                      <a:r>
                        <a:rPr lang="en-US" sz="1050" dirty="0">
                          <a:solidFill>
                            <a:schemeClr val="bg1"/>
                          </a:solidFill>
                          <a:effectLst/>
                        </a:rPr>
                        <a:t>Foreign Ultimate Controlling Entity (Foreign GUP)</a:t>
                      </a:r>
                      <a:endParaRPr lang="en-US" sz="1050" b="0" dirty="0">
                        <a:solidFill>
                          <a:schemeClr val="bg1"/>
                        </a:solidFill>
                        <a:effectLst/>
                        <a:latin typeface="+mj-lt"/>
                        <a:ea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gridSpan="2">
                  <a:txBody>
                    <a:bodyPr/>
                    <a:lstStyle/>
                    <a:p>
                      <a:pPr algn="ctr">
                        <a:spcAft>
                          <a:spcPts val="1200"/>
                        </a:spcAft>
                      </a:pPr>
                      <a:r>
                        <a:rPr lang="en-US" sz="1050" dirty="0">
                          <a:solidFill>
                            <a:schemeClr val="bg1"/>
                          </a:solidFill>
                          <a:effectLst/>
                        </a:rPr>
                        <a:t>Foreign Client</a:t>
                      </a:r>
                      <a:endParaRPr lang="en-US" sz="1050" b="0" dirty="0">
                        <a:solidFill>
                          <a:schemeClr val="bg1"/>
                        </a:solidFill>
                        <a:effectLst/>
                        <a:latin typeface="+mj-lt"/>
                        <a:ea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endParaRPr lang="en-US"/>
                    </a:p>
                  </a:txBody>
                  <a:tcPr/>
                </a:tc>
                <a:tc gridSpan="2">
                  <a:txBody>
                    <a:bodyPr/>
                    <a:lstStyle/>
                    <a:p>
                      <a:pPr algn="ctr">
                        <a:spcAft>
                          <a:spcPts val="1200"/>
                        </a:spcAft>
                      </a:pPr>
                      <a:r>
                        <a:rPr lang="en-US" sz="1050" dirty="0">
                          <a:solidFill>
                            <a:schemeClr val="bg1"/>
                          </a:solidFill>
                          <a:effectLst/>
                        </a:rPr>
                        <a:t>Foreign Ultimate Controlling Entity (GUP)</a:t>
                      </a:r>
                      <a:endParaRPr lang="en-US" sz="1050" b="0" dirty="0">
                        <a:solidFill>
                          <a:schemeClr val="bg1"/>
                        </a:solidFill>
                        <a:effectLst/>
                        <a:latin typeface="+mj-lt"/>
                        <a:ea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endParaRPr lang="en-US"/>
                    </a:p>
                  </a:txBody>
                  <a:tcPr/>
                </a:tc>
                <a:extLst>
                  <a:ext uri="{0D108BD9-81ED-4DB2-BD59-A6C34878D82A}">
                    <a16:rowId xmlns:a16="http://schemas.microsoft.com/office/drawing/2014/main" val="10001"/>
                  </a:ext>
                </a:extLst>
              </a:tr>
              <a:tr h="502209">
                <a:tc gridSpan="2">
                  <a:txBody>
                    <a:bodyPr/>
                    <a:lstStyle/>
                    <a:p>
                      <a:pPr>
                        <a:spcAft>
                          <a:spcPts val="1200"/>
                        </a:spcAft>
                      </a:pPr>
                      <a:r>
                        <a:rPr lang="en-US" sz="1050" dirty="0">
                          <a:effectLst/>
                        </a:rPr>
                        <a:t> </a:t>
                      </a:r>
                    </a:p>
                    <a:p>
                      <a:pPr>
                        <a:spcAft>
                          <a:spcPts val="1200"/>
                        </a:spcAft>
                      </a:pPr>
                      <a:endParaRPr lang="en-US" sz="1050" b="0" dirty="0">
                        <a:solidFill>
                          <a:schemeClr val="bg1"/>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dirty="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02235" marR="0" algn="ctr">
                        <a:spcBef>
                          <a:spcPts val="0"/>
                        </a:spcBef>
                        <a:spcAft>
                          <a:spcPts val="1200"/>
                        </a:spcAft>
                      </a:pPr>
                      <a:r>
                        <a:rPr lang="en-US" sz="1050" b="1" dirty="0">
                          <a:effectLst/>
                        </a:rPr>
                        <a:t>Requesting MF</a:t>
                      </a:r>
                      <a:endParaRPr lang="en-US" sz="1050" b="1" dirty="0">
                        <a:solidFill>
                          <a:schemeClr val="bg1"/>
                        </a:solidFill>
                        <a:effectLst/>
                        <a:latin typeface="+mj-lt"/>
                        <a:ea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102235" marR="0" algn="ctr">
                        <a:spcBef>
                          <a:spcPts val="0"/>
                        </a:spcBef>
                        <a:spcAft>
                          <a:spcPts val="1200"/>
                        </a:spcAft>
                      </a:pPr>
                      <a:r>
                        <a:rPr lang="en-US" sz="1050" b="1" dirty="0">
                          <a:effectLst/>
                        </a:rPr>
                        <a:t>Receiving MF</a:t>
                      </a:r>
                      <a:endParaRPr lang="en-US" sz="1050" b="1" dirty="0">
                        <a:solidFill>
                          <a:schemeClr val="bg1"/>
                        </a:solidFill>
                        <a:effectLst/>
                        <a:latin typeface="+mj-lt"/>
                        <a:ea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102235" marR="0" algn="ctr">
                        <a:spcBef>
                          <a:spcPts val="0"/>
                        </a:spcBef>
                        <a:spcAft>
                          <a:spcPts val="1200"/>
                        </a:spcAft>
                      </a:pPr>
                      <a:r>
                        <a:rPr lang="en-US" sz="1050" b="1" dirty="0">
                          <a:effectLst/>
                        </a:rPr>
                        <a:t>Requesting MF</a:t>
                      </a:r>
                      <a:endParaRPr lang="en-US" sz="1050" b="1" dirty="0">
                        <a:solidFill>
                          <a:schemeClr val="bg1"/>
                        </a:solidFill>
                        <a:effectLst/>
                        <a:latin typeface="+mj-lt"/>
                        <a:ea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102235" marR="0" algn="ctr">
                        <a:spcBef>
                          <a:spcPts val="0"/>
                        </a:spcBef>
                        <a:spcAft>
                          <a:spcPts val="1200"/>
                        </a:spcAft>
                      </a:pPr>
                      <a:r>
                        <a:rPr lang="en-US" sz="1050" b="1" dirty="0">
                          <a:effectLst/>
                        </a:rPr>
                        <a:t>Receiving MF</a:t>
                      </a:r>
                      <a:endParaRPr lang="en-US" sz="1050" b="1" dirty="0">
                        <a:solidFill>
                          <a:schemeClr val="bg1"/>
                        </a:solidFill>
                        <a:effectLst/>
                        <a:latin typeface="+mj-lt"/>
                        <a:ea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0002"/>
                  </a:ext>
                </a:extLst>
              </a:tr>
              <a:tr h="632411">
                <a:tc>
                  <a:txBody>
                    <a:bodyPr/>
                    <a:lstStyle/>
                    <a:p>
                      <a:pPr>
                        <a:spcAft>
                          <a:spcPts val="400"/>
                        </a:spcAft>
                      </a:pPr>
                      <a:r>
                        <a:rPr lang="en-US" sz="1000" dirty="0">
                          <a:effectLst/>
                        </a:rPr>
                        <a:t>DESC</a:t>
                      </a:r>
                      <a:endParaRPr lang="en-US" sz="1000" b="0" dirty="0">
                        <a:effectLst/>
                        <a:latin typeface="+mj-lt"/>
                        <a:ea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400"/>
                        </a:spcAft>
                      </a:pPr>
                      <a:r>
                        <a:rPr lang="en-US" sz="1000" dirty="0">
                          <a:effectLst/>
                        </a:rPr>
                        <a:t>DESC</a:t>
                      </a:r>
                      <a:endParaRPr lang="en-US" sz="1000" b="0" dirty="0">
                        <a:effectLst/>
                        <a:latin typeface="+mj-lt"/>
                        <a:ea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37160" marR="0" lvl="0" indent="-137160">
                        <a:spcBef>
                          <a:spcPts val="0"/>
                        </a:spcBef>
                        <a:spcAft>
                          <a:spcPts val="400"/>
                        </a:spcAft>
                        <a:buFont typeface="Arial" panose="020B0604020202020204" pitchFamily="34" charset="0"/>
                        <a:buChar char="•"/>
                      </a:pPr>
                      <a:r>
                        <a:rPr lang="en-US" sz="1000" dirty="0">
                          <a:effectLst/>
                        </a:rPr>
                        <a:t>Clear with DESC RP</a:t>
                      </a:r>
                    </a:p>
                    <a:p>
                      <a:pPr marL="137160" marR="0" lvl="0" indent="-137160">
                        <a:spcBef>
                          <a:spcPts val="0"/>
                        </a:spcBef>
                        <a:spcAft>
                          <a:spcPts val="400"/>
                        </a:spcAft>
                        <a:buFont typeface="Arial" panose="020B0604020202020204" pitchFamily="34" charset="0"/>
                        <a:buChar char="•"/>
                      </a:pPr>
                      <a:r>
                        <a:rPr lang="en-US" sz="1000" dirty="0">
                          <a:effectLst/>
                        </a:rPr>
                        <a:t>Cross-border check*</a:t>
                      </a:r>
                      <a:endParaRPr lang="en-US" sz="1000" b="0" dirty="0">
                        <a:effectLst/>
                        <a:latin typeface="+mj-lt"/>
                        <a:ea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37160" marR="0" lvl="0" indent="-137160">
                        <a:spcBef>
                          <a:spcPts val="0"/>
                        </a:spcBef>
                        <a:spcAft>
                          <a:spcPts val="400"/>
                        </a:spcAft>
                        <a:buFont typeface="Arial" panose="020B0604020202020204" pitchFamily="34" charset="0"/>
                        <a:buChar char="•"/>
                      </a:pPr>
                      <a:r>
                        <a:rPr lang="en-US" sz="1000" dirty="0">
                          <a:effectLst/>
                        </a:rPr>
                        <a:t>Process request</a:t>
                      </a:r>
                    </a:p>
                    <a:p>
                      <a:pPr marL="137160" marR="0" lvl="0" indent="-137160">
                        <a:spcBef>
                          <a:spcPts val="0"/>
                        </a:spcBef>
                        <a:spcAft>
                          <a:spcPts val="400"/>
                        </a:spcAft>
                        <a:buFont typeface="Arial" panose="020B0604020202020204" pitchFamily="34" charset="0"/>
                        <a:buChar char="•"/>
                      </a:pPr>
                      <a:r>
                        <a:rPr lang="en-US" sz="1000" dirty="0">
                          <a:effectLst/>
                        </a:rPr>
                        <a:t>Consider jurisdictional and other regulatory requirements (e.g., licensing)</a:t>
                      </a:r>
                      <a:endParaRPr lang="en-US" sz="1000" b="0" dirty="0">
                        <a:effectLst/>
                        <a:latin typeface="+mj-lt"/>
                        <a:ea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37160" marR="0" lvl="0" indent="-137160">
                        <a:spcBef>
                          <a:spcPts val="0"/>
                        </a:spcBef>
                        <a:spcAft>
                          <a:spcPts val="400"/>
                        </a:spcAft>
                        <a:buFont typeface="Arial" panose="020B0604020202020204" pitchFamily="34" charset="0"/>
                        <a:buChar char="•"/>
                      </a:pPr>
                      <a:r>
                        <a:rPr lang="en-US" sz="1000" dirty="0">
                          <a:effectLst/>
                        </a:rPr>
                        <a:t>No additional steps required</a:t>
                      </a:r>
                      <a:endParaRPr lang="en-US" sz="1000" b="0" dirty="0">
                        <a:effectLst/>
                        <a:latin typeface="+mj-lt"/>
                        <a:ea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37160" marR="0" lvl="0" indent="-137160">
                        <a:spcBef>
                          <a:spcPts val="0"/>
                        </a:spcBef>
                        <a:spcAft>
                          <a:spcPts val="400"/>
                        </a:spcAft>
                        <a:buFont typeface="Arial" panose="020B0604020202020204" pitchFamily="34" charset="0"/>
                        <a:buChar char="•"/>
                      </a:pPr>
                      <a:r>
                        <a:rPr lang="en-US" sz="1000" dirty="0">
                          <a:effectLst/>
                        </a:rPr>
                        <a:t>No additional steps required</a:t>
                      </a:r>
                      <a:endParaRPr lang="en-US" sz="1000" b="0" dirty="0">
                        <a:effectLst/>
                        <a:latin typeface="+mj-lt"/>
                        <a:ea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757963">
                <a:tc>
                  <a:txBody>
                    <a:bodyPr/>
                    <a:lstStyle/>
                    <a:p>
                      <a:pPr>
                        <a:spcAft>
                          <a:spcPts val="400"/>
                        </a:spcAft>
                      </a:pPr>
                      <a:r>
                        <a:rPr lang="en-US" sz="1000">
                          <a:effectLst/>
                        </a:rPr>
                        <a:t>Not in DESC</a:t>
                      </a:r>
                      <a:endParaRPr lang="en-US" sz="1000" b="0">
                        <a:effectLst/>
                        <a:latin typeface="+mj-lt"/>
                        <a:ea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400"/>
                        </a:spcAft>
                      </a:pPr>
                      <a:r>
                        <a:rPr lang="en-US" sz="1000" dirty="0">
                          <a:effectLst/>
                        </a:rPr>
                        <a:t>Not in DESC</a:t>
                      </a:r>
                      <a:endParaRPr lang="en-US" sz="1000" b="0" dirty="0">
                        <a:effectLst/>
                        <a:latin typeface="+mj-lt"/>
                        <a:ea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37160" marR="0" lvl="0" indent="-137160">
                        <a:spcBef>
                          <a:spcPts val="0"/>
                        </a:spcBef>
                        <a:spcAft>
                          <a:spcPts val="400"/>
                        </a:spcAft>
                        <a:buFont typeface="Arial" panose="020B0604020202020204" pitchFamily="34" charset="0"/>
                        <a:buChar char="•"/>
                      </a:pPr>
                      <a:r>
                        <a:rPr lang="en-US" sz="1000" dirty="0">
                          <a:effectLst/>
                        </a:rPr>
                        <a:t>Cross-border check</a:t>
                      </a:r>
                      <a:endParaRPr lang="en-US" sz="1000" b="0" dirty="0">
                        <a:effectLst/>
                        <a:latin typeface="+mj-lt"/>
                        <a:ea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37160" marR="0" lvl="0" indent="-137160">
                        <a:spcBef>
                          <a:spcPts val="0"/>
                        </a:spcBef>
                        <a:spcAft>
                          <a:spcPts val="400"/>
                        </a:spcAft>
                        <a:buFont typeface="Arial" panose="020B0604020202020204" pitchFamily="34" charset="0"/>
                        <a:buChar char="•"/>
                      </a:pPr>
                      <a:r>
                        <a:rPr lang="en-US" sz="1000" dirty="0">
                          <a:effectLst/>
                        </a:rPr>
                        <a:t>Process request</a:t>
                      </a:r>
                    </a:p>
                    <a:p>
                      <a:pPr marL="137160" marR="0" lvl="0" indent="-137160">
                        <a:spcBef>
                          <a:spcPts val="0"/>
                        </a:spcBef>
                        <a:spcAft>
                          <a:spcPts val="400"/>
                        </a:spcAft>
                        <a:buFont typeface="Arial" panose="020B0604020202020204" pitchFamily="34" charset="0"/>
                        <a:buChar char="•"/>
                      </a:pPr>
                      <a:r>
                        <a:rPr lang="en-US" sz="1000" dirty="0">
                          <a:effectLst/>
                        </a:rPr>
                        <a:t>Consider jurisdictional and other regulatory requirements (e.g., licensing)</a:t>
                      </a:r>
                      <a:endParaRPr lang="en-US" sz="1000" b="0" dirty="0">
                        <a:effectLst/>
                        <a:latin typeface="+mj-lt"/>
                        <a:ea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37160" marR="0" lvl="0" indent="-137160">
                        <a:spcBef>
                          <a:spcPts val="0"/>
                        </a:spcBef>
                        <a:spcAft>
                          <a:spcPts val="400"/>
                        </a:spcAft>
                        <a:buFont typeface="Arial" panose="020B0604020202020204" pitchFamily="34" charset="0"/>
                        <a:buChar char="•"/>
                      </a:pPr>
                      <a:r>
                        <a:rPr lang="en-US" sz="1000" dirty="0">
                          <a:effectLst/>
                        </a:rPr>
                        <a:t>Cross-border check**</a:t>
                      </a:r>
                      <a:endParaRPr lang="en-US" sz="1000" b="0" dirty="0">
                        <a:effectLst/>
                        <a:latin typeface="+mj-lt"/>
                        <a:ea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37160" marR="0" lvl="0" indent="-137160">
                        <a:spcBef>
                          <a:spcPts val="0"/>
                        </a:spcBef>
                        <a:spcAft>
                          <a:spcPts val="400"/>
                        </a:spcAft>
                        <a:buFont typeface="Arial" panose="020B0604020202020204" pitchFamily="34" charset="0"/>
                        <a:buChar char="•"/>
                      </a:pPr>
                      <a:r>
                        <a:rPr lang="en-US" sz="1000" dirty="0">
                          <a:effectLst/>
                        </a:rPr>
                        <a:t>Process request</a:t>
                      </a:r>
                    </a:p>
                    <a:p>
                      <a:pPr marL="137160" marR="0" lvl="0" indent="-137160">
                        <a:spcBef>
                          <a:spcPts val="0"/>
                        </a:spcBef>
                        <a:spcAft>
                          <a:spcPts val="400"/>
                        </a:spcAft>
                        <a:buFont typeface="Arial" panose="020B0604020202020204" pitchFamily="34" charset="0"/>
                        <a:buChar char="•"/>
                      </a:pPr>
                      <a:r>
                        <a:rPr lang="en-US" sz="1000" dirty="0">
                          <a:effectLst/>
                        </a:rPr>
                        <a:t>Consider jurisdictional and other regulatory requirements (e.g. licensing)</a:t>
                      </a:r>
                      <a:endParaRPr lang="en-US" sz="1000" b="0" dirty="0">
                        <a:effectLst/>
                        <a:latin typeface="+mj-lt"/>
                        <a:ea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32411">
                <a:tc>
                  <a:txBody>
                    <a:bodyPr/>
                    <a:lstStyle/>
                    <a:p>
                      <a:pPr>
                        <a:spcAft>
                          <a:spcPts val="400"/>
                        </a:spcAft>
                      </a:pPr>
                      <a:r>
                        <a:rPr lang="en-US" sz="1000">
                          <a:effectLst/>
                        </a:rPr>
                        <a:t>Not in DESC</a:t>
                      </a:r>
                      <a:endParaRPr lang="en-US" sz="1000" b="0">
                        <a:effectLst/>
                        <a:latin typeface="+mj-lt"/>
                        <a:ea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400"/>
                        </a:spcAft>
                      </a:pPr>
                      <a:r>
                        <a:rPr lang="en-US" sz="1000">
                          <a:effectLst/>
                        </a:rPr>
                        <a:t>DESC</a:t>
                      </a:r>
                      <a:endParaRPr lang="en-US" sz="1000" b="0">
                        <a:effectLst/>
                        <a:latin typeface="+mj-lt"/>
                        <a:ea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37160" marR="0" lvl="0" indent="-137160">
                        <a:spcBef>
                          <a:spcPts val="0"/>
                        </a:spcBef>
                        <a:spcAft>
                          <a:spcPts val="400"/>
                        </a:spcAft>
                        <a:buFont typeface="Arial" panose="020B0604020202020204" pitchFamily="34" charset="0"/>
                        <a:buChar char="•"/>
                      </a:pPr>
                      <a:r>
                        <a:rPr lang="en-US" sz="1000" dirty="0">
                          <a:effectLst/>
                        </a:rPr>
                        <a:t>Cross-border check</a:t>
                      </a:r>
                      <a:endParaRPr lang="en-US" sz="1000" b="0" dirty="0">
                        <a:effectLst/>
                        <a:latin typeface="+mj-lt"/>
                        <a:ea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37160" marR="0" lvl="0" indent="-137160">
                        <a:spcBef>
                          <a:spcPts val="0"/>
                        </a:spcBef>
                        <a:spcAft>
                          <a:spcPts val="400"/>
                        </a:spcAft>
                        <a:buFont typeface="Arial" panose="020B0604020202020204" pitchFamily="34" charset="0"/>
                        <a:buChar char="•"/>
                      </a:pPr>
                      <a:r>
                        <a:rPr lang="en-US" sz="1000" dirty="0">
                          <a:effectLst/>
                        </a:rPr>
                        <a:t>Process request</a:t>
                      </a:r>
                    </a:p>
                    <a:p>
                      <a:pPr marL="137160" marR="0" lvl="0" indent="-137160">
                        <a:spcBef>
                          <a:spcPts val="0"/>
                        </a:spcBef>
                        <a:spcAft>
                          <a:spcPts val="400"/>
                        </a:spcAft>
                        <a:buFont typeface="Arial" panose="020B0604020202020204" pitchFamily="34" charset="0"/>
                        <a:buChar char="•"/>
                      </a:pPr>
                      <a:r>
                        <a:rPr lang="en-US" sz="1000" dirty="0">
                          <a:effectLst/>
                        </a:rPr>
                        <a:t>Consider jurisdictional and other regulatory requirements (e.g., licensing)</a:t>
                      </a:r>
                      <a:endParaRPr lang="en-US" sz="1000" b="0" dirty="0">
                        <a:effectLst/>
                        <a:latin typeface="+mj-lt"/>
                        <a:ea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37160" marR="0" lvl="0" indent="-137160">
                        <a:spcBef>
                          <a:spcPts val="0"/>
                        </a:spcBef>
                        <a:spcAft>
                          <a:spcPts val="400"/>
                        </a:spcAft>
                        <a:buFont typeface="Arial" panose="020B0604020202020204" pitchFamily="34" charset="0"/>
                        <a:buChar char="•"/>
                      </a:pPr>
                      <a:r>
                        <a:rPr lang="en-US" sz="1000" dirty="0">
                          <a:effectLst/>
                        </a:rPr>
                        <a:t>Clear with DESC RP</a:t>
                      </a:r>
                      <a:endParaRPr lang="en-US" sz="1000" b="0" dirty="0">
                        <a:effectLst/>
                        <a:latin typeface="+mj-lt"/>
                        <a:ea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37160" marR="0" lvl="0" indent="-137160">
                        <a:spcBef>
                          <a:spcPts val="0"/>
                        </a:spcBef>
                        <a:spcAft>
                          <a:spcPts val="400"/>
                        </a:spcAft>
                        <a:buFont typeface="Arial" panose="020B0604020202020204" pitchFamily="34" charset="0"/>
                        <a:buChar char="•"/>
                      </a:pPr>
                      <a:r>
                        <a:rPr lang="en-US" sz="1000" dirty="0">
                          <a:effectLst/>
                        </a:rPr>
                        <a:t>No additional steps required</a:t>
                      </a:r>
                      <a:endParaRPr lang="en-US" sz="1000" b="0" dirty="0">
                        <a:effectLst/>
                        <a:latin typeface="+mj-lt"/>
                        <a:ea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757963">
                <a:tc>
                  <a:txBody>
                    <a:bodyPr/>
                    <a:lstStyle/>
                    <a:p>
                      <a:pPr>
                        <a:spcAft>
                          <a:spcPts val="400"/>
                        </a:spcAft>
                      </a:pPr>
                      <a:r>
                        <a:rPr lang="en-US" sz="1000">
                          <a:effectLst/>
                        </a:rPr>
                        <a:t>DESC</a:t>
                      </a:r>
                      <a:endParaRPr lang="en-US" sz="1000" b="0">
                        <a:effectLst/>
                        <a:latin typeface="+mj-lt"/>
                        <a:ea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400"/>
                        </a:spcAft>
                      </a:pPr>
                      <a:r>
                        <a:rPr lang="en-US" sz="1000">
                          <a:effectLst/>
                        </a:rPr>
                        <a:t>Not in DESC</a:t>
                      </a:r>
                      <a:endParaRPr lang="en-US" sz="1000" b="0">
                        <a:effectLst/>
                        <a:latin typeface="+mj-lt"/>
                        <a:ea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37160" marR="0" lvl="0" indent="-137160">
                        <a:spcBef>
                          <a:spcPts val="0"/>
                        </a:spcBef>
                        <a:spcAft>
                          <a:spcPts val="400"/>
                        </a:spcAft>
                        <a:buFont typeface="Arial" panose="020B0604020202020204" pitchFamily="34" charset="0"/>
                        <a:buChar char="•"/>
                      </a:pPr>
                      <a:r>
                        <a:rPr lang="en-US" sz="1000" dirty="0">
                          <a:effectLst/>
                        </a:rPr>
                        <a:t>Clear with DESC RP</a:t>
                      </a:r>
                    </a:p>
                    <a:p>
                      <a:pPr marL="137160" marR="0" lvl="0" indent="-137160">
                        <a:spcBef>
                          <a:spcPts val="0"/>
                        </a:spcBef>
                        <a:spcAft>
                          <a:spcPts val="400"/>
                        </a:spcAft>
                        <a:buFont typeface="Arial" panose="020B0604020202020204" pitchFamily="34" charset="0"/>
                        <a:buChar char="•"/>
                      </a:pPr>
                      <a:r>
                        <a:rPr lang="en-US" sz="1000" dirty="0">
                          <a:effectLst/>
                        </a:rPr>
                        <a:t>Cross-border check*</a:t>
                      </a:r>
                      <a:endParaRPr lang="en-US" sz="1000" b="0" dirty="0">
                        <a:effectLst/>
                        <a:latin typeface="+mj-lt"/>
                        <a:ea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37160" marR="0" lvl="0" indent="-137160">
                        <a:spcBef>
                          <a:spcPts val="0"/>
                        </a:spcBef>
                        <a:spcAft>
                          <a:spcPts val="400"/>
                        </a:spcAft>
                        <a:buFont typeface="Arial" panose="020B0604020202020204" pitchFamily="34" charset="0"/>
                        <a:buChar char="•"/>
                      </a:pPr>
                      <a:r>
                        <a:rPr lang="en-US" sz="1000" dirty="0">
                          <a:effectLst/>
                        </a:rPr>
                        <a:t>Process request</a:t>
                      </a:r>
                    </a:p>
                    <a:p>
                      <a:pPr marL="137160" marR="0" lvl="0" indent="-137160">
                        <a:spcBef>
                          <a:spcPts val="0"/>
                        </a:spcBef>
                        <a:spcAft>
                          <a:spcPts val="400"/>
                        </a:spcAft>
                        <a:buFont typeface="Arial" panose="020B0604020202020204" pitchFamily="34" charset="0"/>
                        <a:buChar char="•"/>
                      </a:pPr>
                      <a:r>
                        <a:rPr lang="en-US" sz="1000" dirty="0">
                          <a:effectLst/>
                        </a:rPr>
                        <a:t>Consider jurisdictional and other regulatory requirements (e.g., licensing)</a:t>
                      </a:r>
                      <a:endParaRPr lang="en-US" sz="1000" b="0" dirty="0">
                        <a:effectLst/>
                        <a:latin typeface="+mj-lt"/>
                        <a:ea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37160" marR="0" lvl="0" indent="-137160">
                        <a:spcBef>
                          <a:spcPts val="0"/>
                        </a:spcBef>
                        <a:spcAft>
                          <a:spcPts val="400"/>
                        </a:spcAft>
                        <a:buFont typeface="Arial" panose="020B0604020202020204" pitchFamily="34" charset="0"/>
                        <a:buChar char="•"/>
                      </a:pPr>
                      <a:r>
                        <a:rPr lang="en-US" sz="1000" dirty="0">
                          <a:effectLst/>
                        </a:rPr>
                        <a:t>Cross-border check**</a:t>
                      </a:r>
                      <a:endParaRPr lang="en-US" sz="1000" b="0" kern="1200" dirty="0">
                        <a:solidFill>
                          <a:schemeClr val="dk1"/>
                        </a:solidFill>
                        <a:effectLst/>
                        <a:latin typeface="+mn-lt"/>
                        <a:ea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37160" marR="0" lvl="0" indent="-137160">
                        <a:spcBef>
                          <a:spcPts val="0"/>
                        </a:spcBef>
                        <a:spcAft>
                          <a:spcPts val="400"/>
                        </a:spcAft>
                        <a:buFont typeface="Arial" panose="020B0604020202020204" pitchFamily="34" charset="0"/>
                        <a:buChar char="•"/>
                      </a:pPr>
                      <a:r>
                        <a:rPr lang="en-US" sz="1000" dirty="0">
                          <a:effectLst/>
                        </a:rPr>
                        <a:t>Process request</a:t>
                      </a:r>
                    </a:p>
                    <a:p>
                      <a:pPr marL="137160" marR="0" lvl="0" indent="-13716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lang="en-US" sz="1000" dirty="0">
                          <a:effectLst/>
                        </a:rPr>
                        <a:t>Consider jurisdictional and other regulatory requirements (e.g. licensing)</a:t>
                      </a:r>
                      <a:endParaRPr lang="en-US" sz="1000" b="0" kern="1200" dirty="0">
                        <a:solidFill>
                          <a:schemeClr val="dk1"/>
                        </a:solidFill>
                        <a:effectLst/>
                        <a:latin typeface="+mn-lt"/>
                        <a:ea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632411">
                <a:tc>
                  <a:txBody>
                    <a:bodyPr/>
                    <a:lstStyle/>
                    <a:p>
                      <a:pPr>
                        <a:spcAft>
                          <a:spcPts val="400"/>
                        </a:spcAft>
                      </a:pPr>
                      <a:r>
                        <a:rPr lang="en-US" sz="1000" dirty="0">
                          <a:effectLst/>
                        </a:rPr>
                        <a:t>DESC and also is the ultimate controlling entity (GUP)</a:t>
                      </a:r>
                      <a:endParaRPr lang="en-US" sz="1000" b="0" dirty="0">
                        <a:effectLst/>
                        <a:latin typeface="+mj-lt"/>
                        <a:ea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400"/>
                        </a:spcAft>
                      </a:pPr>
                      <a:r>
                        <a:rPr lang="en-US" sz="1000" dirty="0">
                          <a:effectLst/>
                        </a:rPr>
                        <a:t>N/A</a:t>
                      </a:r>
                      <a:endParaRPr lang="en-US" sz="1000" b="0" dirty="0">
                        <a:effectLst/>
                        <a:latin typeface="+mj-lt"/>
                        <a:ea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37160" marR="0" lvl="0" indent="-137160">
                        <a:spcBef>
                          <a:spcPts val="0"/>
                        </a:spcBef>
                        <a:spcAft>
                          <a:spcPts val="400"/>
                        </a:spcAft>
                        <a:buFont typeface="Arial" panose="020B0604020202020204" pitchFamily="34" charset="0"/>
                        <a:buChar char="•"/>
                      </a:pPr>
                      <a:r>
                        <a:rPr lang="en-US" sz="1000" dirty="0">
                          <a:effectLst/>
                        </a:rPr>
                        <a:t>Clear with DESC RP</a:t>
                      </a:r>
                    </a:p>
                    <a:p>
                      <a:pPr marL="137160" marR="0" lvl="0" indent="-137160">
                        <a:spcBef>
                          <a:spcPts val="0"/>
                        </a:spcBef>
                        <a:spcAft>
                          <a:spcPts val="400"/>
                        </a:spcAft>
                        <a:buFont typeface="Arial" panose="020B0604020202020204" pitchFamily="34" charset="0"/>
                        <a:buChar char="•"/>
                      </a:pPr>
                      <a:r>
                        <a:rPr lang="en-US" sz="1000" dirty="0">
                          <a:effectLst/>
                        </a:rPr>
                        <a:t>Cross-border check*</a:t>
                      </a:r>
                      <a:endParaRPr lang="en-US" sz="1000" b="0" dirty="0">
                        <a:effectLst/>
                        <a:latin typeface="+mj-lt"/>
                        <a:ea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37160" marR="0" lvl="0" indent="-137160">
                        <a:spcBef>
                          <a:spcPts val="0"/>
                        </a:spcBef>
                        <a:spcAft>
                          <a:spcPts val="400"/>
                        </a:spcAft>
                        <a:buFont typeface="Arial" panose="020B0604020202020204" pitchFamily="34" charset="0"/>
                        <a:buChar char="•"/>
                      </a:pPr>
                      <a:r>
                        <a:rPr lang="en-US" sz="1000">
                          <a:effectLst/>
                        </a:rPr>
                        <a:t>Process request</a:t>
                      </a:r>
                    </a:p>
                    <a:p>
                      <a:pPr marL="137160" marR="0" lvl="0" indent="-137160">
                        <a:spcBef>
                          <a:spcPts val="0"/>
                        </a:spcBef>
                        <a:spcAft>
                          <a:spcPts val="400"/>
                        </a:spcAft>
                        <a:buFont typeface="Arial" panose="020B0604020202020204" pitchFamily="34" charset="0"/>
                        <a:buChar char="•"/>
                      </a:pPr>
                      <a:r>
                        <a:rPr lang="en-US" sz="1000">
                          <a:effectLst/>
                        </a:rPr>
                        <a:t>Consider jurisdictional and other regulatory requirements (e.g., licensing)</a:t>
                      </a:r>
                      <a:endParaRPr lang="en-US" sz="1000" b="0">
                        <a:effectLst/>
                        <a:latin typeface="+mj-lt"/>
                        <a:ea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37160" marR="0" lvl="0" indent="-137160">
                        <a:spcBef>
                          <a:spcPts val="0"/>
                        </a:spcBef>
                        <a:spcAft>
                          <a:spcPts val="400"/>
                        </a:spcAft>
                        <a:buFont typeface="Arial" panose="020B0604020202020204" pitchFamily="34" charset="0"/>
                        <a:buChar char="•"/>
                      </a:pPr>
                      <a:r>
                        <a:rPr lang="en-US" sz="1000">
                          <a:effectLst/>
                        </a:rPr>
                        <a:t>No additional steps required</a:t>
                      </a:r>
                      <a:endParaRPr lang="en-US" sz="1000" b="0">
                        <a:effectLst/>
                        <a:latin typeface="+mj-lt"/>
                        <a:ea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37160" marR="0" lvl="0" indent="-137160">
                        <a:spcBef>
                          <a:spcPts val="0"/>
                        </a:spcBef>
                        <a:spcAft>
                          <a:spcPts val="400"/>
                        </a:spcAft>
                        <a:buFont typeface="Arial" panose="020B0604020202020204" pitchFamily="34" charset="0"/>
                        <a:buChar char="•"/>
                      </a:pPr>
                      <a:r>
                        <a:rPr lang="en-US" sz="1000" dirty="0">
                          <a:effectLst/>
                        </a:rPr>
                        <a:t>N/A</a:t>
                      </a:r>
                      <a:endParaRPr lang="en-US" sz="1000" b="0" dirty="0">
                        <a:effectLst/>
                        <a:latin typeface="+mj-lt"/>
                        <a:ea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TextBox 6">
            <a:extLst>
              <a:ext uri="{FF2B5EF4-FFF2-40B4-BE49-F238E27FC236}">
                <a16:creationId xmlns:a16="http://schemas.microsoft.com/office/drawing/2014/main" id="{64B98376-EFF5-38D2-64CE-EBFF32384785}"/>
              </a:ext>
            </a:extLst>
          </p:cNvPr>
          <p:cNvSpPr txBox="1"/>
          <p:nvPr/>
        </p:nvSpPr>
        <p:spPr>
          <a:xfrm>
            <a:off x="1125769" y="6305182"/>
            <a:ext cx="9162288" cy="261610"/>
          </a:xfrm>
          <a:prstGeom prst="rect">
            <a:avLst/>
          </a:prstGeom>
          <a:noFill/>
        </p:spPr>
        <p:txBody>
          <a:bodyPr wrap="square" rtlCol="0">
            <a:spAutoFit/>
          </a:bodyPr>
          <a:lstStyle/>
          <a:p>
            <a:r>
              <a:rPr lang="en-US" sz="1100" dirty="0"/>
              <a:t>*Logging Request is sent when the Client entity is listed in DESC as Relationship / Restricted </a:t>
            </a:r>
          </a:p>
        </p:txBody>
      </p:sp>
    </p:spTree>
    <p:extLst>
      <p:ext uri="{BB962C8B-B14F-4D97-AF65-F5344CB8AC3E}">
        <p14:creationId xmlns:p14="http://schemas.microsoft.com/office/powerpoint/2010/main" val="3999160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0FA01A-1026-9AE7-EC67-D68DB0F26791}"/>
              </a:ext>
            </a:extLst>
          </p:cNvPr>
          <p:cNvSpPr>
            <a:spLocks noGrp="1"/>
          </p:cNvSpPr>
          <p:nvPr>
            <p:ph idx="1"/>
          </p:nvPr>
        </p:nvSpPr>
        <p:spPr>
          <a:xfrm>
            <a:off x="517450" y="1453896"/>
            <a:ext cx="10802821" cy="4524089"/>
          </a:xfrm>
        </p:spPr>
        <p:txBody>
          <a:bodyPr>
            <a:normAutofit/>
          </a:bodyPr>
          <a:lstStyle/>
          <a:p>
            <a:r>
              <a:rPr lang="en-US" sz="1600" dirty="0"/>
              <a:t>To send a Cross-Border check to another Member Firm’s jurisdiction: </a:t>
            </a:r>
          </a:p>
          <a:p>
            <a:pPr marL="857250" lvl="1" indent="-400050">
              <a:buFont typeface="+mj-lt"/>
              <a:buAutoNum type="romanLcPeriod"/>
            </a:pPr>
            <a:r>
              <a:rPr lang="en-US" sz="1600" dirty="0"/>
              <a:t>Go to Cross Border Requests section in the request and click on the Member Firm. </a:t>
            </a:r>
          </a:p>
          <a:p>
            <a:pPr marL="857250" lvl="1" indent="-400050">
              <a:buFont typeface="+mj-lt"/>
              <a:buAutoNum type="romanLcPeriod"/>
            </a:pPr>
            <a:r>
              <a:rPr lang="en-US" sz="1600" dirty="0"/>
              <a:t>Tick the Involved Entity which requires the cross-border check to be sent. </a:t>
            </a:r>
          </a:p>
          <a:p>
            <a:pPr marL="857250" lvl="1" indent="-400050">
              <a:buFont typeface="+mj-lt"/>
              <a:buAutoNum type="romanLcPeriod"/>
            </a:pPr>
            <a:r>
              <a:rPr lang="en-US" sz="1600" dirty="0"/>
              <a:t>You will then be directed to Request Management Page of the cross-border check. </a:t>
            </a:r>
          </a:p>
          <a:p>
            <a:pPr marL="857250" lvl="1" indent="-400050">
              <a:buFont typeface="+mj-lt"/>
              <a:buAutoNum type="romanLcPeriod" startAt="5"/>
            </a:pPr>
            <a:r>
              <a:rPr lang="en-US" sz="1600" dirty="0"/>
              <a:t>Finally, click Submit Final Request button. </a:t>
            </a:r>
          </a:p>
          <a:p>
            <a:pPr marL="457200" lvl="1" indent="0">
              <a:buNone/>
            </a:pPr>
            <a:endParaRPr lang="en-US" sz="1600" dirty="0"/>
          </a:p>
          <a:p>
            <a:pPr marL="0" indent="0">
              <a:buNone/>
            </a:pPr>
            <a:endParaRPr lang="en-US" sz="1600" dirty="0"/>
          </a:p>
          <a:p>
            <a:endParaRPr lang="en-US" sz="1600" dirty="0"/>
          </a:p>
        </p:txBody>
      </p:sp>
      <p:sp>
        <p:nvSpPr>
          <p:cNvPr id="4" name="Title 1">
            <a:extLst>
              <a:ext uri="{FF2B5EF4-FFF2-40B4-BE49-F238E27FC236}">
                <a16:creationId xmlns:a16="http://schemas.microsoft.com/office/drawing/2014/main" id="{C73C7360-2C65-F8D9-27F2-CB9F5C9953D3}"/>
              </a:ext>
            </a:extLst>
          </p:cNvPr>
          <p:cNvSpPr>
            <a:spLocks noGrp="1"/>
          </p:cNvSpPr>
          <p:nvPr>
            <p:ph type="title"/>
          </p:nvPr>
        </p:nvSpPr>
        <p:spPr>
          <a:xfrm>
            <a:off x="517451" y="345086"/>
            <a:ext cx="9956800" cy="442537"/>
          </a:xfrm>
        </p:spPr>
        <p:txBody>
          <a:bodyPr>
            <a:noAutofit/>
          </a:bodyPr>
          <a:lstStyle/>
          <a:p>
            <a:r>
              <a:rPr lang="en-US" sz="2600" dirty="0"/>
              <a:t>Perform Cross-Border Conflict Check Request to other Member Firms </a:t>
            </a:r>
          </a:p>
        </p:txBody>
      </p:sp>
      <p:grpSp>
        <p:nvGrpSpPr>
          <p:cNvPr id="13" name="Group 12">
            <a:extLst>
              <a:ext uri="{FF2B5EF4-FFF2-40B4-BE49-F238E27FC236}">
                <a16:creationId xmlns:a16="http://schemas.microsoft.com/office/drawing/2014/main" id="{B666F133-70C9-5D61-3C8F-3A3E70F891DE}"/>
              </a:ext>
            </a:extLst>
          </p:cNvPr>
          <p:cNvGrpSpPr/>
          <p:nvPr/>
        </p:nvGrpSpPr>
        <p:grpSpPr>
          <a:xfrm>
            <a:off x="6255346" y="3429000"/>
            <a:ext cx="5261847" cy="2345337"/>
            <a:chOff x="6972578" y="4140167"/>
            <a:chExt cx="4855658" cy="2209038"/>
          </a:xfrm>
        </p:grpSpPr>
        <p:pic>
          <p:nvPicPr>
            <p:cNvPr id="14" name="Picture 13">
              <a:extLst>
                <a:ext uri="{FF2B5EF4-FFF2-40B4-BE49-F238E27FC236}">
                  <a16:creationId xmlns:a16="http://schemas.microsoft.com/office/drawing/2014/main" id="{83BB9E9A-012C-AC30-3C5B-7FFBAC5A2F2F}"/>
                </a:ext>
              </a:extLst>
            </p:cNvPr>
            <p:cNvPicPr>
              <a:picLocks noChangeAspect="1"/>
            </p:cNvPicPr>
            <p:nvPr/>
          </p:nvPicPr>
          <p:blipFill>
            <a:blip r:embed="rId2"/>
            <a:stretch>
              <a:fillRect/>
            </a:stretch>
          </p:blipFill>
          <p:spPr>
            <a:xfrm>
              <a:off x="6972578" y="4140167"/>
              <a:ext cx="4855658" cy="2209038"/>
            </a:xfrm>
            <a:prstGeom prst="rect">
              <a:avLst/>
            </a:prstGeom>
          </p:spPr>
        </p:pic>
        <p:sp>
          <p:nvSpPr>
            <p:cNvPr id="15" name="Rectangle 14">
              <a:extLst>
                <a:ext uri="{FF2B5EF4-FFF2-40B4-BE49-F238E27FC236}">
                  <a16:creationId xmlns:a16="http://schemas.microsoft.com/office/drawing/2014/main" id="{4009E378-A285-61D5-A6B0-AC3EDBFA5B48}"/>
                </a:ext>
              </a:extLst>
            </p:cNvPr>
            <p:cNvSpPr/>
            <p:nvPr/>
          </p:nvSpPr>
          <p:spPr>
            <a:xfrm>
              <a:off x="10698480" y="5534442"/>
              <a:ext cx="763803" cy="23157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DCCDE5DD-7D51-B5B0-F39A-C6E2353A7249}"/>
              </a:ext>
            </a:extLst>
          </p:cNvPr>
          <p:cNvGrpSpPr/>
          <p:nvPr/>
        </p:nvGrpSpPr>
        <p:grpSpPr>
          <a:xfrm>
            <a:off x="1828424" y="3715940"/>
            <a:ext cx="2697855" cy="599763"/>
            <a:chOff x="7621198" y="977695"/>
            <a:chExt cx="2330570" cy="520727"/>
          </a:xfrm>
        </p:grpSpPr>
        <p:pic>
          <p:nvPicPr>
            <p:cNvPr id="12" name="Picture 11">
              <a:extLst>
                <a:ext uri="{FF2B5EF4-FFF2-40B4-BE49-F238E27FC236}">
                  <a16:creationId xmlns:a16="http://schemas.microsoft.com/office/drawing/2014/main" id="{575C9F59-B5E7-5764-789E-EFEA583D5B4E}"/>
                </a:ext>
              </a:extLst>
            </p:cNvPr>
            <p:cNvPicPr>
              <a:picLocks noChangeAspect="1"/>
            </p:cNvPicPr>
            <p:nvPr/>
          </p:nvPicPr>
          <p:blipFill>
            <a:blip r:embed="rId3"/>
            <a:stretch>
              <a:fillRect/>
            </a:stretch>
          </p:blipFill>
          <p:spPr>
            <a:xfrm>
              <a:off x="7621198" y="977695"/>
              <a:ext cx="2330570" cy="520727"/>
            </a:xfrm>
            <a:prstGeom prst="rect">
              <a:avLst/>
            </a:prstGeom>
          </p:spPr>
        </p:pic>
        <p:sp>
          <p:nvSpPr>
            <p:cNvPr id="23" name="Rectangle 22">
              <a:extLst>
                <a:ext uri="{FF2B5EF4-FFF2-40B4-BE49-F238E27FC236}">
                  <a16:creationId xmlns:a16="http://schemas.microsoft.com/office/drawing/2014/main" id="{51FF62D0-6961-E59B-22BB-CE9D477A6C98}"/>
                </a:ext>
              </a:extLst>
            </p:cNvPr>
            <p:cNvSpPr/>
            <p:nvPr/>
          </p:nvSpPr>
          <p:spPr>
            <a:xfrm>
              <a:off x="7946136" y="1238058"/>
              <a:ext cx="932688" cy="26036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F27EC482-1BC1-A23E-147C-C5A24BA9D4BC}"/>
              </a:ext>
            </a:extLst>
          </p:cNvPr>
          <p:cNvGrpSpPr/>
          <p:nvPr/>
        </p:nvGrpSpPr>
        <p:grpSpPr>
          <a:xfrm>
            <a:off x="804297" y="4552211"/>
            <a:ext cx="4979894" cy="701457"/>
            <a:chOff x="7621198" y="1648321"/>
            <a:chExt cx="4284289" cy="671076"/>
          </a:xfrm>
        </p:grpSpPr>
        <p:pic>
          <p:nvPicPr>
            <p:cNvPr id="10" name="Picture 9">
              <a:extLst>
                <a:ext uri="{FF2B5EF4-FFF2-40B4-BE49-F238E27FC236}">
                  <a16:creationId xmlns:a16="http://schemas.microsoft.com/office/drawing/2014/main" id="{1CAEBC04-B4D5-B27B-239A-644AE5DD69C6}"/>
                </a:ext>
              </a:extLst>
            </p:cNvPr>
            <p:cNvPicPr>
              <a:picLocks noChangeAspect="1"/>
            </p:cNvPicPr>
            <p:nvPr/>
          </p:nvPicPr>
          <p:blipFill>
            <a:blip r:embed="rId4"/>
            <a:stretch>
              <a:fillRect/>
            </a:stretch>
          </p:blipFill>
          <p:spPr>
            <a:xfrm>
              <a:off x="7621198" y="1648321"/>
              <a:ext cx="4284289" cy="671076"/>
            </a:xfrm>
            <a:prstGeom prst="rect">
              <a:avLst/>
            </a:prstGeom>
          </p:spPr>
        </p:pic>
        <p:sp>
          <p:nvSpPr>
            <p:cNvPr id="26" name="Rectangle 25">
              <a:extLst>
                <a:ext uri="{FF2B5EF4-FFF2-40B4-BE49-F238E27FC236}">
                  <a16:creationId xmlns:a16="http://schemas.microsoft.com/office/drawing/2014/main" id="{FF8BCFF0-B458-617A-DC23-A54BA42C9D52}"/>
                </a:ext>
              </a:extLst>
            </p:cNvPr>
            <p:cNvSpPr/>
            <p:nvPr/>
          </p:nvSpPr>
          <p:spPr>
            <a:xfrm>
              <a:off x="11448288" y="2148840"/>
              <a:ext cx="226261" cy="1005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C465381-7B19-58E3-9048-B6CFE2443247}"/>
                </a:ext>
              </a:extLst>
            </p:cNvPr>
            <p:cNvSpPr/>
            <p:nvPr/>
          </p:nvSpPr>
          <p:spPr>
            <a:xfrm>
              <a:off x="10653954" y="1773091"/>
              <a:ext cx="1141806" cy="19527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48392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99A0BA-3F75-960D-6254-5343F1B376E6}"/>
              </a:ext>
            </a:extLst>
          </p:cNvPr>
          <p:cNvSpPr>
            <a:spLocks noGrp="1"/>
          </p:cNvSpPr>
          <p:nvPr>
            <p:ph idx="1"/>
          </p:nvPr>
        </p:nvSpPr>
        <p:spPr>
          <a:xfrm>
            <a:off x="609600" y="993521"/>
            <a:ext cx="10515600" cy="4351338"/>
          </a:xfrm>
        </p:spPr>
        <p:txBody>
          <a:bodyPr>
            <a:normAutofit/>
          </a:bodyPr>
          <a:lstStyle/>
          <a:p>
            <a:pPr marL="247650" lvl="3">
              <a:defRPr/>
            </a:pPr>
            <a:r>
              <a:rPr lang="en-US" sz="1400" dirty="0">
                <a:latin typeface="Calibri Light" panose="020F0302020204030204" pitchFamily="34" charset="0"/>
                <a:cs typeface="Calibri Light" panose="020F0302020204030204" pitchFamily="34" charset="0"/>
              </a:rPr>
              <a:t>Prepare draft conflict check response based on the identified relationships and ensure that: </a:t>
            </a:r>
          </a:p>
          <a:p>
            <a:pPr marL="476250" lvl="3">
              <a:buAutoNum type="arabicParenBoth"/>
              <a:defRPr/>
            </a:pPr>
            <a:r>
              <a:rPr lang="en-US" sz="1400" dirty="0">
                <a:latin typeface="Calibri Light" panose="020F0302020204030204" pitchFamily="34" charset="0"/>
                <a:cs typeface="Calibri Light" panose="020F0302020204030204" pitchFamily="34" charset="0"/>
              </a:rPr>
              <a:t>The draft response is complete and accurate (e.g. status of identified relationships, entity designation, LCSP/EP name, SEA Risk Leaders name, etc.), </a:t>
            </a:r>
            <a:r>
              <a:rPr lang="en-US" sz="1400" i="1" dirty="0">
                <a:latin typeface="Calibri Light" panose="020F0302020204030204" pitchFamily="34" charset="0"/>
                <a:cs typeface="Calibri Light" panose="020F0302020204030204" pitchFamily="34" charset="0"/>
              </a:rPr>
              <a:t>and</a:t>
            </a:r>
            <a:r>
              <a:rPr lang="en-US" sz="1400" dirty="0">
                <a:latin typeface="Calibri Light" panose="020F0302020204030204" pitchFamily="34" charset="0"/>
                <a:cs typeface="Calibri Light" panose="020F0302020204030204" pitchFamily="34" charset="0"/>
              </a:rPr>
              <a:t> </a:t>
            </a:r>
          </a:p>
          <a:p>
            <a:pPr marL="476250" lvl="3">
              <a:buAutoNum type="arabicParenBoth"/>
              <a:defRPr/>
            </a:pPr>
            <a:r>
              <a:rPr lang="en-US" sz="1400" dirty="0">
                <a:latin typeface="Calibri Light" panose="020F0302020204030204" pitchFamily="34" charset="0"/>
                <a:cs typeface="Calibri Light" panose="020F0302020204030204" pitchFamily="34" charset="0"/>
              </a:rPr>
              <a:t>All supporting documentation is attached to the conflict check request (e.g. search results, correspondences with the proposing team/other MFs, consultation emails, etc.)</a:t>
            </a:r>
          </a:p>
          <a:p>
            <a:pPr marL="76200" lvl="2" indent="-285750">
              <a:defRPr/>
            </a:pPr>
            <a:r>
              <a:rPr lang="en-US" sz="1400" dirty="0">
                <a:latin typeface="Calibri Light" panose="020F0302020204030204" pitchFamily="34" charset="0"/>
                <a:cs typeface="Calibri Light" panose="020F0302020204030204" pitchFamily="34" charset="0"/>
              </a:rPr>
              <a:t>For Junior analysts, please send draft response to reviewers (Liz, Astrid and Puteri) for further review. </a:t>
            </a:r>
          </a:p>
          <a:p>
            <a:pPr marL="76200" lvl="2" indent="-285750">
              <a:defRPr/>
            </a:pPr>
            <a:r>
              <a:rPr lang="en-US" sz="1400" dirty="0">
                <a:latin typeface="Calibri Light" panose="020F0302020204030204" pitchFamily="34" charset="0"/>
                <a:cs typeface="Calibri Light" panose="020F0302020204030204" pitchFamily="34" charset="0"/>
              </a:rPr>
              <a:t>Once all relationships identified are collated or have been reviewed, please go to “Review and Determination” section in DCCS. </a:t>
            </a:r>
          </a:p>
          <a:p>
            <a:pPr marL="533400" lvl="3" indent="-285750">
              <a:buFont typeface="Wingdings" panose="05000000000000000000" pitchFamily="2" charset="2"/>
              <a:buChar char="Ø"/>
              <a:defRPr/>
            </a:pPr>
            <a:r>
              <a:rPr lang="en-US" sz="1200" dirty="0">
                <a:latin typeface="Calibri Light" panose="020F0302020204030204" pitchFamily="34" charset="0"/>
                <a:cs typeface="Calibri Light" panose="020F0302020204030204" pitchFamily="34" charset="0"/>
              </a:rPr>
              <a:t>For Final Result, please choose “No Conflicts Identified” if no conflicts/no condition indicated in DCCS result, Or choose “Approved with Conditions” if condition is indicated, and select the appropriate conditions (i.e. Audit Client, Restricted Client in DESC, etc.). Then, click “Continue”. </a:t>
            </a:r>
          </a:p>
          <a:p>
            <a:pPr marL="533400" lvl="3" indent="-285750">
              <a:buFont typeface="Wingdings" panose="05000000000000000000" pitchFamily="2" charset="2"/>
              <a:buChar char="Ø"/>
              <a:defRPr/>
            </a:pPr>
            <a:r>
              <a:rPr lang="en-US" sz="1200" dirty="0">
                <a:latin typeface="Calibri Light" panose="020F0302020204030204" pitchFamily="34" charset="0"/>
                <a:cs typeface="Calibri Light" panose="020F0302020204030204" pitchFamily="34" charset="0"/>
              </a:rPr>
              <a:t>For Conflict Check Email Response Template, please always include SEA Conflict Check mailbox and yourself as the recipient “Email Send To”. </a:t>
            </a:r>
          </a:p>
          <a:p>
            <a:pPr marL="533400" lvl="3" indent="-285750">
              <a:buFont typeface="Wingdings" panose="05000000000000000000" pitchFamily="2" charset="2"/>
              <a:buChar char="Ø"/>
              <a:defRPr/>
            </a:pPr>
            <a:r>
              <a:rPr lang="en-US" sz="1200" dirty="0">
                <a:latin typeface="Calibri Light" panose="020F0302020204030204" pitchFamily="34" charset="0"/>
                <a:cs typeface="Calibri Light" panose="020F0302020204030204" pitchFamily="34" charset="0"/>
              </a:rPr>
              <a:t>Then, copy and paste the reviewed draft response and click “Send” to release the DCCS result. </a:t>
            </a:r>
          </a:p>
          <a:p>
            <a:endParaRPr lang="en-US" sz="1400" dirty="0"/>
          </a:p>
        </p:txBody>
      </p:sp>
      <p:sp>
        <p:nvSpPr>
          <p:cNvPr id="4" name="Title 1">
            <a:extLst>
              <a:ext uri="{FF2B5EF4-FFF2-40B4-BE49-F238E27FC236}">
                <a16:creationId xmlns:a16="http://schemas.microsoft.com/office/drawing/2014/main" id="{5BFBEEED-1F44-8697-E557-4E1AD2EFCD22}"/>
              </a:ext>
            </a:extLst>
          </p:cNvPr>
          <p:cNvSpPr>
            <a:spLocks noGrp="1"/>
          </p:cNvSpPr>
          <p:nvPr>
            <p:ph type="title"/>
          </p:nvPr>
        </p:nvSpPr>
        <p:spPr>
          <a:xfrm>
            <a:off x="517451" y="345086"/>
            <a:ext cx="9956800" cy="442537"/>
          </a:xfrm>
        </p:spPr>
        <p:txBody>
          <a:bodyPr>
            <a:noAutofit/>
          </a:bodyPr>
          <a:lstStyle/>
          <a:p>
            <a:r>
              <a:rPr lang="en-US" sz="2600" dirty="0"/>
              <a:t>Collate all Relationships identified</a:t>
            </a:r>
          </a:p>
        </p:txBody>
      </p:sp>
      <p:pic>
        <p:nvPicPr>
          <p:cNvPr id="6" name="Picture 5">
            <a:extLst>
              <a:ext uri="{FF2B5EF4-FFF2-40B4-BE49-F238E27FC236}">
                <a16:creationId xmlns:a16="http://schemas.microsoft.com/office/drawing/2014/main" id="{36070D05-4DF3-C11C-DE73-FC5A279D17FD}"/>
              </a:ext>
            </a:extLst>
          </p:cNvPr>
          <p:cNvPicPr>
            <a:picLocks noChangeAspect="1"/>
          </p:cNvPicPr>
          <p:nvPr/>
        </p:nvPicPr>
        <p:blipFill>
          <a:blip r:embed="rId3"/>
          <a:stretch>
            <a:fillRect/>
          </a:stretch>
        </p:blipFill>
        <p:spPr>
          <a:xfrm>
            <a:off x="1146311" y="3923582"/>
            <a:ext cx="1579633" cy="2677276"/>
          </a:xfrm>
          <a:prstGeom prst="rect">
            <a:avLst/>
          </a:prstGeom>
        </p:spPr>
      </p:pic>
      <p:pic>
        <p:nvPicPr>
          <p:cNvPr id="12" name="Picture 11">
            <a:extLst>
              <a:ext uri="{FF2B5EF4-FFF2-40B4-BE49-F238E27FC236}">
                <a16:creationId xmlns:a16="http://schemas.microsoft.com/office/drawing/2014/main" id="{69DE5755-7A88-5BC8-97C4-766D00B55F63}"/>
              </a:ext>
            </a:extLst>
          </p:cNvPr>
          <p:cNvPicPr>
            <a:picLocks noChangeAspect="1"/>
          </p:cNvPicPr>
          <p:nvPr/>
        </p:nvPicPr>
        <p:blipFill>
          <a:blip r:embed="rId4"/>
          <a:stretch>
            <a:fillRect/>
          </a:stretch>
        </p:blipFill>
        <p:spPr>
          <a:xfrm>
            <a:off x="3300363" y="3747090"/>
            <a:ext cx="4466393" cy="2890726"/>
          </a:xfrm>
          <a:prstGeom prst="rect">
            <a:avLst/>
          </a:prstGeom>
        </p:spPr>
      </p:pic>
      <p:pic>
        <p:nvPicPr>
          <p:cNvPr id="5" name="Picture 4">
            <a:extLst>
              <a:ext uri="{FF2B5EF4-FFF2-40B4-BE49-F238E27FC236}">
                <a16:creationId xmlns:a16="http://schemas.microsoft.com/office/drawing/2014/main" id="{DAA3C43F-E686-0936-CC28-9F736B3CA5F4}"/>
              </a:ext>
            </a:extLst>
          </p:cNvPr>
          <p:cNvPicPr>
            <a:picLocks noChangeAspect="1"/>
          </p:cNvPicPr>
          <p:nvPr/>
        </p:nvPicPr>
        <p:blipFill>
          <a:blip r:embed="rId5"/>
          <a:stretch>
            <a:fillRect/>
          </a:stretch>
        </p:blipFill>
        <p:spPr>
          <a:xfrm>
            <a:off x="8141836" y="3629321"/>
            <a:ext cx="3059564" cy="2971537"/>
          </a:xfrm>
          <a:prstGeom prst="rect">
            <a:avLst/>
          </a:prstGeom>
        </p:spPr>
      </p:pic>
      <p:sp>
        <p:nvSpPr>
          <p:cNvPr id="2" name="TextBox 1">
            <a:extLst>
              <a:ext uri="{FF2B5EF4-FFF2-40B4-BE49-F238E27FC236}">
                <a16:creationId xmlns:a16="http://schemas.microsoft.com/office/drawing/2014/main" id="{30E2EA3A-F5D0-E3A7-C55A-F81AB43BDB4E}"/>
              </a:ext>
            </a:extLst>
          </p:cNvPr>
          <p:cNvSpPr txBox="1"/>
          <p:nvPr/>
        </p:nvSpPr>
        <p:spPr>
          <a:xfrm>
            <a:off x="7904480" y="230567"/>
            <a:ext cx="4056888" cy="58477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Please refer to the </a:t>
            </a:r>
            <a:r>
              <a:rPr lang="en-US" altLang="en-US" sz="1600" dirty="0">
                <a:solidFill>
                  <a:schemeClr val="accent4">
                    <a:lumMod val="40000"/>
                    <a:lumOff val="60000"/>
                  </a:schemeClr>
                </a:solidFill>
                <a:latin typeface="Calibri" panose="020F0502020204030204" pitchFamily="34" charset="0"/>
                <a:ea typeface="Calibri" panose="020F0502020204030204" pitchFamily="34" charset="0"/>
                <a:cs typeface="Calibri" panose="020F0502020204030204" pitchFamily="34" charset="0"/>
                <a:hlinkClick r:id="rId6">
                  <a:extLst>
                    <a:ext uri="{A12FA001-AC4F-418D-AE19-62706E023703}">
                      <ahyp:hlinkClr xmlns:ahyp="http://schemas.microsoft.com/office/drawing/2018/hyperlinkcolor" val="tx"/>
                    </a:ext>
                  </a:extLst>
                </a:hlinkClick>
              </a:rPr>
              <a:t>SEA Conflicts Protocol</a:t>
            </a:r>
            <a:r>
              <a:rPr lang="en-US" alt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for DCCS caveat conditions and approval matrix  </a:t>
            </a:r>
          </a:p>
        </p:txBody>
      </p:sp>
    </p:spTree>
    <p:extLst>
      <p:ext uri="{BB962C8B-B14F-4D97-AF65-F5344CB8AC3E}">
        <p14:creationId xmlns:p14="http://schemas.microsoft.com/office/powerpoint/2010/main" val="4104398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39BE809-26DD-DD95-4CA2-EB6790087747}"/>
              </a:ext>
            </a:extLst>
          </p:cNvPr>
          <p:cNvSpPr>
            <a:spLocks noGrp="1"/>
          </p:cNvSpPr>
          <p:nvPr>
            <p:ph type="title"/>
          </p:nvPr>
        </p:nvSpPr>
        <p:spPr>
          <a:xfrm>
            <a:off x="517451" y="345086"/>
            <a:ext cx="9956800" cy="442537"/>
          </a:xfrm>
        </p:spPr>
        <p:txBody>
          <a:bodyPr>
            <a:noAutofit/>
          </a:bodyPr>
          <a:lstStyle/>
          <a:p>
            <a:r>
              <a:rPr lang="en-US" sz="2600" dirty="0"/>
              <a:t>Additional Footer for All SEA T&amp;T Request</a:t>
            </a:r>
          </a:p>
        </p:txBody>
      </p:sp>
      <p:sp>
        <p:nvSpPr>
          <p:cNvPr id="5" name="Content Placeholder 2">
            <a:extLst>
              <a:ext uri="{FF2B5EF4-FFF2-40B4-BE49-F238E27FC236}">
                <a16:creationId xmlns:a16="http://schemas.microsoft.com/office/drawing/2014/main" id="{B83E42CC-F11C-2E26-1DF2-C3E2D1386D79}"/>
              </a:ext>
            </a:extLst>
          </p:cNvPr>
          <p:cNvSpPr>
            <a:spLocks noGrp="1"/>
          </p:cNvSpPr>
          <p:nvPr>
            <p:ph idx="1"/>
          </p:nvPr>
        </p:nvSpPr>
        <p:spPr>
          <a:xfrm>
            <a:off x="609600" y="993521"/>
            <a:ext cx="10515600" cy="442537"/>
          </a:xfrm>
        </p:spPr>
        <p:txBody>
          <a:bodyPr>
            <a:normAutofit/>
          </a:bodyPr>
          <a:lstStyle/>
          <a:p>
            <a:r>
              <a:rPr lang="en-US" sz="1400" dirty="0"/>
              <a:t>Additional footer should be applied to all SEA T&amp;T cases under the 'Reminders' section, prior to 'Personal Conflicts, as follows:  </a:t>
            </a:r>
          </a:p>
        </p:txBody>
      </p:sp>
      <p:graphicFrame>
        <p:nvGraphicFramePr>
          <p:cNvPr id="6" name="Table 5">
            <a:extLst>
              <a:ext uri="{FF2B5EF4-FFF2-40B4-BE49-F238E27FC236}">
                <a16:creationId xmlns:a16="http://schemas.microsoft.com/office/drawing/2014/main" id="{45981E59-82B4-475D-CA74-BEEEFEFE81A6}"/>
              </a:ext>
            </a:extLst>
          </p:cNvPr>
          <p:cNvGraphicFramePr>
            <a:graphicFrameLocks noGrp="1"/>
          </p:cNvGraphicFramePr>
          <p:nvPr>
            <p:extLst>
              <p:ext uri="{D42A27DB-BD31-4B8C-83A1-F6EECF244321}">
                <p14:modId xmlns:p14="http://schemas.microsoft.com/office/powerpoint/2010/main" val="2175989918"/>
              </p:ext>
            </p:extLst>
          </p:nvPr>
        </p:nvGraphicFramePr>
        <p:xfrm>
          <a:off x="938784" y="1436508"/>
          <a:ext cx="6175248" cy="5212080"/>
        </p:xfrm>
        <a:graphic>
          <a:graphicData uri="http://schemas.openxmlformats.org/drawingml/2006/table">
            <a:tbl>
              <a:tblPr firstRow="1" bandRow="1">
                <a:tableStyleId>{5C22544A-7EE6-4342-B048-85BDC9FD1C3A}</a:tableStyleId>
              </a:tblPr>
              <a:tblGrid>
                <a:gridCol w="6175248">
                  <a:extLst>
                    <a:ext uri="{9D8B030D-6E8A-4147-A177-3AD203B41FA5}">
                      <a16:colId xmlns:a16="http://schemas.microsoft.com/office/drawing/2014/main" val="3507214501"/>
                    </a:ext>
                  </a:extLst>
                </a:gridCol>
              </a:tblGrid>
              <a:tr h="177736">
                <a:tc>
                  <a:txBody>
                    <a:bodyPr/>
                    <a:lstStyle/>
                    <a:p>
                      <a:pPr algn="ctr"/>
                      <a:r>
                        <a:rPr lang="en-US" sz="1000" dirty="0">
                          <a:solidFill>
                            <a:schemeClr val="tx1"/>
                          </a:solidFill>
                          <a:latin typeface="+mn-lt"/>
                        </a:rPr>
                        <a:t>Application of Footer in DCCS Result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3336741"/>
                  </a:ext>
                </a:extLst>
              </a:tr>
              <a:tr h="4378141">
                <a:tc>
                  <a:txBody>
                    <a:bodyPr/>
                    <a:lstStyle/>
                    <a:p>
                      <a:r>
                        <a:rPr lang="en-US" sz="1000" b="1" kern="1200" dirty="0">
                          <a:solidFill>
                            <a:srgbClr val="92D050"/>
                          </a:solidFill>
                          <a:effectLst/>
                          <a:latin typeface="+mn-lt"/>
                          <a:ea typeface="+mn-ea"/>
                          <a:cs typeface="+mn-cs"/>
                        </a:rPr>
                        <a:t>Reminders</a:t>
                      </a:r>
                      <a:endParaRPr lang="en-US" sz="1000" kern="1200" dirty="0">
                        <a:solidFill>
                          <a:srgbClr val="92D050"/>
                        </a:solidFill>
                        <a:effectLst/>
                        <a:latin typeface="+mn-lt"/>
                        <a:ea typeface="+mn-ea"/>
                        <a:cs typeface="+mn-cs"/>
                      </a:endParaRPr>
                    </a:p>
                    <a:p>
                      <a:pPr marL="285750" lvl="0" indent="-285750">
                        <a:buFont typeface="Arial" panose="020B0604020202020204" pitchFamily="34" charset="0"/>
                        <a:buChar char="•"/>
                      </a:pPr>
                      <a:r>
                        <a:rPr lang="en-US" sz="1000" kern="1200" dirty="0">
                          <a:solidFill>
                            <a:schemeClr val="dk1"/>
                          </a:solidFill>
                          <a:effectLst/>
                          <a:latin typeface="+mn-lt"/>
                          <a:ea typeface="+mn-ea"/>
                          <a:cs typeface="+mn-cs"/>
                        </a:rPr>
                        <a:t>Under DPM 1420, when a Firm provides professional services to a client and </a:t>
                      </a:r>
                      <a:r>
                        <a:rPr lang="en-US" sz="1000" b="1" kern="1200" dirty="0">
                          <a:solidFill>
                            <a:schemeClr val="dk1"/>
                          </a:solidFill>
                          <a:effectLst/>
                          <a:latin typeface="+mn-lt"/>
                          <a:ea typeface="+mn-ea"/>
                          <a:cs typeface="+mn-cs"/>
                        </a:rPr>
                        <a:t>another service provider</a:t>
                      </a:r>
                      <a:r>
                        <a:rPr lang="en-US" sz="1000" kern="1200" dirty="0">
                          <a:solidFill>
                            <a:schemeClr val="dk1"/>
                          </a:solidFill>
                          <a:effectLst/>
                          <a:latin typeface="+mn-lt"/>
                          <a:ea typeface="+mn-ea"/>
                          <a:cs typeface="+mn-cs"/>
                        </a:rPr>
                        <a:t> is also participating in the same project, </a:t>
                      </a:r>
                      <a:r>
                        <a:rPr lang="en-US" sz="1000" u="sng" kern="1200" dirty="0">
                          <a:solidFill>
                            <a:schemeClr val="dk1"/>
                          </a:solidFill>
                          <a:effectLst/>
                          <a:latin typeface="+mn-lt"/>
                          <a:ea typeface="+mn-ea"/>
                          <a:cs typeface="+mn-cs"/>
                        </a:rPr>
                        <a:t>a marketplace business relationship might be established</a:t>
                      </a:r>
                      <a:r>
                        <a:rPr lang="en-US" sz="1000" kern="1200" dirty="0">
                          <a:solidFill>
                            <a:schemeClr val="dk1"/>
                          </a:solidFill>
                          <a:effectLst/>
                          <a:latin typeface="+mn-lt"/>
                          <a:ea typeface="+mn-ea"/>
                          <a:cs typeface="+mn-cs"/>
                        </a:rPr>
                        <a:t> between the Firm and the service provider </a:t>
                      </a:r>
                      <a:r>
                        <a:rPr lang="en-US" sz="1000" b="1" kern="1200" dirty="0">
                          <a:solidFill>
                            <a:schemeClr val="dk1"/>
                          </a:solidFill>
                          <a:effectLst/>
                          <a:latin typeface="+mn-lt"/>
                          <a:ea typeface="+mn-ea"/>
                          <a:cs typeface="+mn-cs"/>
                        </a:rPr>
                        <a:t>even when the Firm and the service provider are each engaged under separate contracts</a:t>
                      </a:r>
                      <a:r>
                        <a:rPr lang="en-US" sz="1000" kern="1200" dirty="0">
                          <a:solidFill>
                            <a:schemeClr val="dk1"/>
                          </a:solidFill>
                          <a:effectLst/>
                          <a:latin typeface="+mn-lt"/>
                          <a:ea typeface="+mn-ea"/>
                          <a:cs typeface="+mn-cs"/>
                        </a:rPr>
                        <a:t>. Existence of any of the following factors would generally create a direct marketplace business relationship:</a:t>
                      </a:r>
                    </a:p>
                    <a:p>
                      <a:pPr marL="628650" lvl="1" indent="-171450">
                        <a:buFont typeface="Courier New" panose="02070309020205020404" pitchFamily="49" charset="0"/>
                        <a:buChar char="o"/>
                      </a:pPr>
                      <a:r>
                        <a:rPr lang="en-US" sz="1000" kern="1200" dirty="0">
                          <a:solidFill>
                            <a:schemeClr val="dk1"/>
                          </a:solidFill>
                          <a:effectLst/>
                          <a:latin typeface="+mn-lt"/>
                          <a:ea typeface="+mn-ea"/>
                          <a:cs typeface="+mn-cs"/>
                        </a:rPr>
                        <a:t>There is a contractual linkage between the fees or incentives due to either party.</a:t>
                      </a:r>
                    </a:p>
                    <a:p>
                      <a:pPr marL="628650" lvl="1" indent="-171450">
                        <a:buFont typeface="Courier New" panose="02070309020205020404" pitchFamily="49" charset="0"/>
                        <a:buChar char="o"/>
                      </a:pPr>
                      <a:r>
                        <a:rPr lang="en-US" sz="1000" kern="1200" dirty="0">
                          <a:solidFill>
                            <a:schemeClr val="dk1"/>
                          </a:solidFill>
                          <a:effectLst/>
                          <a:latin typeface="+mn-lt"/>
                          <a:ea typeface="+mn-ea"/>
                          <a:cs typeface="+mn-cs"/>
                        </a:rPr>
                        <a:t>The parties have joint liability for performance, work products, or outcomes.</a:t>
                      </a:r>
                    </a:p>
                    <a:p>
                      <a:pPr marL="628650" lvl="1" indent="-171450">
                        <a:buFont typeface="Courier New" panose="02070309020205020404" pitchFamily="49" charset="0"/>
                        <a:buChar char="o"/>
                      </a:pPr>
                      <a:r>
                        <a:rPr lang="en-US" sz="1000" kern="1200" dirty="0">
                          <a:solidFill>
                            <a:schemeClr val="dk1"/>
                          </a:solidFill>
                          <a:effectLst/>
                          <a:latin typeface="+mn-lt"/>
                          <a:ea typeface="+mn-ea"/>
                          <a:cs typeface="+mn-cs"/>
                        </a:rPr>
                        <a:t>The parties have joint work product(s) or deliverables(s). A joint work product or deliverable exists when, either through contractual requirements and/or Client expectations, there is no differentiation or separation of the responsibilities for development, completion, and/or provision of the work product or deliverable between the parties.</a:t>
                      </a:r>
                    </a:p>
                    <a:p>
                      <a:pPr marL="628650" lvl="1" indent="-171450">
                        <a:buFont typeface="Courier New" panose="02070309020205020404" pitchFamily="49" charset="0"/>
                        <a:buChar char="o"/>
                      </a:pPr>
                      <a:r>
                        <a:rPr lang="en-US" sz="1000" kern="1200" dirty="0">
                          <a:solidFill>
                            <a:schemeClr val="dk1"/>
                          </a:solidFill>
                          <a:effectLst/>
                          <a:latin typeface="+mn-lt"/>
                          <a:ea typeface="+mn-ea"/>
                          <a:cs typeface="+mn-cs"/>
                        </a:rPr>
                        <a:t>One party oversees, supervises, directs, evaluates, manages, monitors or otherwise has responsibility or accountability for the other party’s personnel, products, or services, or is otherwise involved in the decision-making relating to products and services provided by the other party. </a:t>
                      </a:r>
                    </a:p>
                    <a:p>
                      <a:pPr lvl="1"/>
                      <a:r>
                        <a:rPr lang="en-US" sz="1000" kern="1200" dirty="0">
                          <a:solidFill>
                            <a:schemeClr val="dk1"/>
                          </a:solidFill>
                          <a:effectLst/>
                          <a:latin typeface="+mn-lt"/>
                          <a:ea typeface="+mn-ea"/>
                          <a:cs typeface="+mn-cs"/>
                        </a:rPr>
                        <a:t>With respect to this proposed engagement, </a:t>
                      </a:r>
                      <a:r>
                        <a:rPr lang="en-US" sz="1000" b="1" kern="1200" dirty="0">
                          <a:solidFill>
                            <a:schemeClr val="dk1"/>
                          </a:solidFill>
                          <a:effectLst/>
                          <a:latin typeface="+mn-lt"/>
                          <a:ea typeface="+mn-ea"/>
                          <a:cs typeface="+mn-cs"/>
                        </a:rPr>
                        <a:t>where another service provider is participating in the same project and the other service provider is a Restricted Entity</a:t>
                      </a:r>
                      <a:r>
                        <a:rPr lang="en-US" sz="1000" kern="1200" dirty="0">
                          <a:solidFill>
                            <a:schemeClr val="dk1"/>
                          </a:solidFill>
                          <a:effectLst/>
                          <a:latin typeface="+mn-lt"/>
                          <a:ea typeface="+mn-ea"/>
                          <a:cs typeface="+mn-cs"/>
                        </a:rPr>
                        <a:t>, independence restrictions may apply. Consult with your country Independence Leader for additional guidance.</a:t>
                      </a:r>
                    </a:p>
                    <a:p>
                      <a:endParaRPr lang="en-US" sz="1000" kern="1200" dirty="0">
                        <a:solidFill>
                          <a:schemeClr val="dk1"/>
                        </a:solidFill>
                        <a:effectLst/>
                        <a:latin typeface="+mn-lt"/>
                        <a:ea typeface="+mn-ea"/>
                        <a:cs typeface="+mn-cs"/>
                      </a:endParaRPr>
                    </a:p>
                    <a:p>
                      <a:pPr marL="285750" lvl="0" indent="-285750">
                        <a:buFont typeface="Arial" panose="020B0604020202020204" pitchFamily="34" charset="0"/>
                        <a:buChar char="•"/>
                      </a:pPr>
                      <a:r>
                        <a:rPr lang="en-US" sz="1000" b="1" kern="1200" dirty="0">
                          <a:solidFill>
                            <a:schemeClr val="dk1"/>
                          </a:solidFill>
                          <a:effectLst/>
                          <a:latin typeface="+mn-lt"/>
                          <a:ea typeface="+mn-ea"/>
                          <a:cs typeface="+mn-cs"/>
                        </a:rPr>
                        <a:t>Personal Conflicts:</a:t>
                      </a:r>
                      <a:endParaRPr lang="en-US" sz="1000" kern="1200" dirty="0">
                        <a:solidFill>
                          <a:schemeClr val="dk1"/>
                        </a:solidFill>
                        <a:effectLst/>
                        <a:latin typeface="+mn-lt"/>
                        <a:ea typeface="+mn-ea"/>
                        <a:cs typeface="+mn-cs"/>
                      </a:endParaRPr>
                    </a:p>
                    <a:p>
                      <a:pPr lvl="1"/>
                      <a:r>
                        <a:rPr lang="en-US" sz="1000" kern="1200" dirty="0">
                          <a:solidFill>
                            <a:schemeClr val="dk1"/>
                          </a:solidFill>
                          <a:effectLst/>
                          <a:latin typeface="+mn-lt"/>
                          <a:ea typeface="+mn-ea"/>
                          <a:cs typeface="+mn-cs"/>
                        </a:rPr>
                        <a:t>Prior to the Engagement each Engagement Partner should make appropriate inquiries of each person that is being contemplated to participate as a member of the applicable Engagement Team or Business Relationship team (including any specialists) to ascertain whether any such individuals have Personal Conflicts, including professional, personal, financial, business, or employment relationships, that would preclude them from participating on such Engagement or Business Relationship. To assist you and your team members you may wish to use the Personal Conflicts guideline that can be accessed </a:t>
                      </a:r>
                      <a:r>
                        <a:rPr lang="en-US" sz="1000" u="none" strike="noStrike" kern="1200" dirty="0">
                          <a:solidFill>
                            <a:schemeClr val="dk1"/>
                          </a:solidFill>
                          <a:effectLst/>
                          <a:latin typeface="+mn-lt"/>
                          <a:ea typeface="+mn-ea"/>
                          <a:cs typeface="+mn-cs"/>
                          <a:hlinkClick r:id="rId2"/>
                        </a:rPr>
                        <a:t>here</a:t>
                      </a:r>
                      <a:r>
                        <a:rPr lang="en-US" sz="1000" kern="1200" dirty="0">
                          <a:solidFill>
                            <a:schemeClr val="dk1"/>
                          </a:solidFill>
                          <a:effectLst/>
                          <a:latin typeface="+mn-lt"/>
                          <a:ea typeface="+mn-ea"/>
                          <a:cs typeface="+mn-cs"/>
                        </a:rPr>
                        <a:t>.</a:t>
                      </a:r>
                    </a:p>
                    <a:p>
                      <a:endParaRPr lang="en-US" sz="1000" kern="1200" dirty="0">
                        <a:solidFill>
                          <a:schemeClr val="dk1"/>
                        </a:solidFill>
                        <a:effectLst/>
                        <a:latin typeface="+mn-lt"/>
                        <a:ea typeface="+mn-ea"/>
                        <a:cs typeface="+mn-cs"/>
                      </a:endParaRPr>
                    </a:p>
                    <a:p>
                      <a:pPr lvl="1"/>
                      <a:r>
                        <a:rPr lang="en-US" sz="1000" kern="1200" dirty="0">
                          <a:solidFill>
                            <a:schemeClr val="dk1"/>
                          </a:solidFill>
                          <a:effectLst/>
                          <a:latin typeface="+mn-lt"/>
                          <a:ea typeface="+mn-ea"/>
                          <a:cs typeface="+mn-cs"/>
                        </a:rPr>
                        <a:t>The Engagement Partner should evaluate the impact of any Personal Conflicts identified, consult to the respective SEA Business Risk Leader (as necessary), and document such evaluation and the resulting conclusion.</a:t>
                      </a:r>
                      <a:endParaRPr lang="en-US" sz="1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9813019"/>
                  </a:ext>
                </a:extLst>
              </a:tr>
            </a:tbl>
          </a:graphicData>
        </a:graphic>
      </p:graphicFrame>
      <p:pic>
        <p:nvPicPr>
          <p:cNvPr id="8" name="Picture 7">
            <a:extLst>
              <a:ext uri="{FF2B5EF4-FFF2-40B4-BE49-F238E27FC236}">
                <a16:creationId xmlns:a16="http://schemas.microsoft.com/office/drawing/2014/main" id="{573802C3-8C7A-0866-36B8-2F7DF4790FB6}"/>
              </a:ext>
            </a:extLst>
          </p:cNvPr>
          <p:cNvPicPr>
            <a:picLocks noChangeAspect="1"/>
          </p:cNvPicPr>
          <p:nvPr/>
        </p:nvPicPr>
        <p:blipFill>
          <a:blip r:embed="rId3"/>
          <a:stretch>
            <a:fillRect/>
          </a:stretch>
        </p:blipFill>
        <p:spPr>
          <a:xfrm>
            <a:off x="7357625" y="1436058"/>
            <a:ext cx="4724647" cy="3519990"/>
          </a:xfrm>
          <a:prstGeom prst="rect">
            <a:avLst/>
          </a:prstGeom>
          <a:ln>
            <a:solidFill>
              <a:schemeClr val="tx1"/>
            </a:solidFill>
          </a:ln>
        </p:spPr>
      </p:pic>
    </p:spTree>
    <p:extLst>
      <p:ext uri="{BB962C8B-B14F-4D97-AF65-F5344CB8AC3E}">
        <p14:creationId xmlns:p14="http://schemas.microsoft.com/office/powerpoint/2010/main" val="3060338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A2FA8442CF79B4B874D35832F604753" ma:contentTypeVersion="15" ma:contentTypeDescription="Create a new document." ma:contentTypeScope="" ma:versionID="2940bb7a9e87b3900f4eb782d813b211">
  <xsd:schema xmlns:xsd="http://www.w3.org/2001/XMLSchema" xmlns:xs="http://www.w3.org/2001/XMLSchema" xmlns:p="http://schemas.microsoft.com/office/2006/metadata/properties" xmlns:ns2="10ec51ab-3f4f-45c6-a7a3-454ed679734a" xmlns:ns3="6c74353c-53c4-47b1-a8f7-dce93de64713" targetNamespace="http://schemas.microsoft.com/office/2006/metadata/properties" ma:root="true" ma:fieldsID="5b86076745993803b42601679cfffe35" ns2:_="" ns3:_="">
    <xsd:import namespace="10ec51ab-3f4f-45c6-a7a3-454ed679734a"/>
    <xsd:import namespace="6c74353c-53c4-47b1-a8f7-dce93de6471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element ref="ns2: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0ec51ab-3f4f-45c6-a7a3-454ed679734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tadata" ma:index="20" nillable="true" ma:displayName="Metadata" ma:format="Dropdown" ma:internalName="Metadata">
      <xsd:simpleType>
        <xsd:restriction base="dms:Choice">
          <xsd:enumeration value="jupiter"/>
          <xsd:enumeration value="pipeline"/>
        </xsd:restriction>
      </xsd:simpleType>
    </xsd:element>
    <xsd:element name="MediaServiceLocation" ma:index="21"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c74353c-53c4-47b1-a8f7-dce93de64713"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15e8ee2-e45d-482a-88af-6073f0e56add}" ma:internalName="TaxCatchAll" ma:showField="CatchAllData" ma:web="6c74353c-53c4-47b1-a8f7-dce93de6471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0ec51ab-3f4f-45c6-a7a3-454ed679734a">
      <Terms xmlns="http://schemas.microsoft.com/office/infopath/2007/PartnerControls"/>
    </lcf76f155ced4ddcb4097134ff3c332f>
    <TaxCatchAll xmlns="6c74353c-53c4-47b1-a8f7-dce93de64713" xsi:nil="true"/>
    <Metadata xmlns="10ec51ab-3f4f-45c6-a7a3-454ed679734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5C1F356-35EA-41DE-BAF3-B73CEDD90411}"/>
</file>

<file path=customXml/itemProps2.xml><?xml version="1.0" encoding="utf-8"?>
<ds:datastoreItem xmlns:ds="http://schemas.openxmlformats.org/officeDocument/2006/customXml" ds:itemID="{F1134E13-8FF2-4D8A-9229-5E7EF88E6B11}">
  <ds:schemaRefs>
    <ds:schemaRef ds:uri="55dd51c9-8315-4ff7-b167-aad4e19f4118"/>
    <ds:schemaRef ds:uri="http://schemas.microsoft.com/office/2006/metadata/properties"/>
    <ds:schemaRef ds:uri="http://schemas.microsoft.com/office/infopath/2007/PartnerControls"/>
    <ds:schemaRef ds:uri="http://purl.org/dc/dcmitype/"/>
    <ds:schemaRef ds:uri="http://www.w3.org/XML/1998/namespace"/>
    <ds:schemaRef ds:uri="http://schemas.microsoft.com/office/2006/documentManagement/types"/>
    <ds:schemaRef ds:uri="http://schemas.openxmlformats.org/package/2006/metadata/core-properties"/>
    <ds:schemaRef ds:uri="http://purl.org/dc/terms/"/>
    <ds:schemaRef ds:uri="http://purl.org/dc/elements/1.1/"/>
  </ds:schemaRefs>
</ds:datastoreItem>
</file>

<file path=customXml/itemProps3.xml><?xml version="1.0" encoding="utf-8"?>
<ds:datastoreItem xmlns:ds="http://schemas.openxmlformats.org/officeDocument/2006/customXml" ds:itemID="{4CDA634D-2DE3-456C-8CEB-702F38AB4740}">
  <ds:schemaRefs>
    <ds:schemaRef ds:uri="http://schemas.microsoft.com/sharepoint/v3/contenttype/forms"/>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otalTime>468</TotalTime>
  <Words>2752</Words>
  <Application>Microsoft Office PowerPoint</Application>
  <PresentationFormat>Widescreen</PresentationFormat>
  <Paragraphs>187</Paragraphs>
  <Slides>14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Aptos</vt:lpstr>
      <vt:lpstr>Aptos Display</vt:lpstr>
      <vt:lpstr>Arial</vt:lpstr>
      <vt:lpstr>Calibri</vt:lpstr>
      <vt:lpstr>Calibri Light</vt:lpstr>
      <vt:lpstr>Courier New</vt:lpstr>
      <vt:lpstr>Wingdings</vt:lpstr>
      <vt:lpstr>Office Theme</vt:lpstr>
      <vt:lpstr>Quick Reference Card</vt:lpstr>
      <vt:lpstr>Assigning DCCS Request </vt:lpstr>
      <vt:lpstr>Perform Quality Check – Engagement Details</vt:lpstr>
      <vt:lpstr>Perform Quality Check – Relevant Parties</vt:lpstr>
      <vt:lpstr>Perform Search to Conflicts Databases – DESC </vt:lpstr>
      <vt:lpstr>Perform Search to Conflicts Databases – WBS </vt:lpstr>
      <vt:lpstr>Perform Search to Conflicts Databases – New One Window (Sharepoint) </vt:lpstr>
      <vt:lpstr>Perform Search to Conflicts Databases – New One Window (Sharepoint) </vt:lpstr>
      <vt:lpstr>Perform Search to Conflicts Databases – COT </vt:lpstr>
      <vt:lpstr>Perform Search to Conflicts Databases – DCCS Search Result</vt:lpstr>
      <vt:lpstr>Perform Cross-Border Conflict Check Request to other Member Firms </vt:lpstr>
      <vt:lpstr>Perform Cross-Border Conflict Check Request to other Member Firms </vt:lpstr>
      <vt:lpstr>Collate all Relationships identified</vt:lpstr>
      <vt:lpstr>Additional Footer for All SEA T&amp;T Request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Oktaviani, Astrid</dc:creator>
  <cp:lastModifiedBy>Oktaviani, Astrid</cp:lastModifiedBy>
  <cp:revision>2</cp:revision>
  <dcterms:created xsi:type="dcterms:W3CDTF">2026-04-10T05:16:38Z</dcterms:created>
  <dcterms:modified xsi:type="dcterms:W3CDTF">2026-05-21T03:35:04Z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0x0101009A2FA8442CF79B4B874D35832F604753</vt:lpwstr>
  </property>
</Properties>
</file>